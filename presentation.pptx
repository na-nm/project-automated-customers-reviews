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7"/>
  </p:notesMasterIdLst>
  <p:sldIdLst>
    <p:sldId id="273" r:id="rId2"/>
    <p:sldId id="274" r:id="rId3"/>
    <p:sldId id="275" r:id="rId4"/>
    <p:sldId id="281" r:id="rId5"/>
    <p:sldId id="285" r:id="rId6"/>
    <p:sldId id="282" r:id="rId7"/>
    <p:sldId id="265" r:id="rId8"/>
    <p:sldId id="257" r:id="rId9"/>
    <p:sldId id="287" r:id="rId10"/>
    <p:sldId id="258" r:id="rId11"/>
    <p:sldId id="259" r:id="rId12"/>
    <p:sldId id="286" r:id="rId13"/>
    <p:sldId id="288" r:id="rId14"/>
    <p:sldId id="262" r:id="rId15"/>
    <p:sldId id="289" r:id="rId16"/>
    <p:sldId id="290" r:id="rId17"/>
    <p:sldId id="291" r:id="rId18"/>
    <p:sldId id="292" r:id="rId19"/>
    <p:sldId id="299" r:id="rId20"/>
    <p:sldId id="293" r:id="rId21"/>
    <p:sldId id="302" r:id="rId22"/>
    <p:sldId id="301" r:id="rId23"/>
    <p:sldId id="295" r:id="rId24"/>
    <p:sldId id="296" r:id="rId25"/>
    <p:sldId id="294" r:id="rId26"/>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00" autoAdjust="0"/>
    <p:restoredTop sz="93487" autoAdjust="0"/>
  </p:normalViewPr>
  <p:slideViewPr>
    <p:cSldViewPr snapToGrid="0">
      <p:cViewPr varScale="1">
        <p:scale>
          <a:sx n="65" d="100"/>
          <a:sy n="65" d="100"/>
        </p:scale>
        <p:origin x="9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C066E9-742F-44D0-A178-2F0BA96DD87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E2B8D2A3-CF4B-4812-88F5-8DDBC1CE8548}">
      <dgm:prSet/>
      <dgm:spPr/>
      <dgm:t>
        <a:bodyPr/>
        <a:lstStyle/>
        <a:p>
          <a:r>
            <a:rPr lang="en-US"/>
            <a:t>Epoch	Training Loss	Validation Loss	Accuracy	F1</a:t>
          </a:r>
        </a:p>
      </dgm:t>
    </dgm:pt>
    <dgm:pt modelId="{21F5A298-A9E5-427E-9E84-124B1F61075D}" type="parTrans" cxnId="{5AFE3F03-25CB-4876-8C96-560576168624}">
      <dgm:prSet/>
      <dgm:spPr/>
      <dgm:t>
        <a:bodyPr/>
        <a:lstStyle/>
        <a:p>
          <a:endParaRPr lang="en-US"/>
        </a:p>
      </dgm:t>
    </dgm:pt>
    <dgm:pt modelId="{69918297-9C9A-41AD-AC67-B607F68ADDBD}" type="sibTrans" cxnId="{5AFE3F03-25CB-4876-8C96-560576168624}">
      <dgm:prSet/>
      <dgm:spPr/>
      <dgm:t>
        <a:bodyPr/>
        <a:lstStyle/>
        <a:p>
          <a:endParaRPr lang="en-US"/>
        </a:p>
      </dgm:t>
    </dgm:pt>
    <dgm:pt modelId="{77D041E6-3711-43DA-B062-CD0318BC52E1}">
      <dgm:prSet/>
      <dgm:spPr/>
      <dgm:t>
        <a:bodyPr/>
        <a:lstStyle/>
        <a:p>
          <a:r>
            <a:rPr lang="en-US"/>
            <a:t>1	0.082500	0.072922	0.981602	0.981592</a:t>
          </a:r>
        </a:p>
      </dgm:t>
    </dgm:pt>
    <dgm:pt modelId="{7122FA46-9C3E-46C8-B836-13EDEF6DB712}" type="parTrans" cxnId="{BFDCBE93-C023-470C-A5CC-BBDFCE4E2A98}">
      <dgm:prSet/>
      <dgm:spPr/>
      <dgm:t>
        <a:bodyPr/>
        <a:lstStyle/>
        <a:p>
          <a:endParaRPr lang="en-US"/>
        </a:p>
      </dgm:t>
    </dgm:pt>
    <dgm:pt modelId="{8DF15C9C-583D-4CFD-86BB-D18DCA500FBF}" type="sibTrans" cxnId="{BFDCBE93-C023-470C-A5CC-BBDFCE4E2A98}">
      <dgm:prSet/>
      <dgm:spPr/>
      <dgm:t>
        <a:bodyPr/>
        <a:lstStyle/>
        <a:p>
          <a:endParaRPr lang="en-US"/>
        </a:p>
      </dgm:t>
    </dgm:pt>
    <dgm:pt modelId="{4906EECE-F166-47F7-AD5D-EB9622D63799}">
      <dgm:prSet/>
      <dgm:spPr/>
      <dgm:t>
        <a:bodyPr/>
        <a:lstStyle/>
        <a:p>
          <a:r>
            <a:rPr lang="en-US"/>
            <a:t>2	0.026600	0.039157	0.989170	0.989162</a:t>
          </a:r>
        </a:p>
      </dgm:t>
    </dgm:pt>
    <dgm:pt modelId="{DA734D4E-0C89-44DE-9247-78C820C3C962}" type="parTrans" cxnId="{D3DD4BE3-A1DA-4222-AF6E-D46A03DA04C6}">
      <dgm:prSet/>
      <dgm:spPr/>
      <dgm:t>
        <a:bodyPr/>
        <a:lstStyle/>
        <a:p>
          <a:endParaRPr lang="en-US"/>
        </a:p>
      </dgm:t>
    </dgm:pt>
    <dgm:pt modelId="{3E1FE4FF-08F7-4331-9DB8-2525CD91E8BB}" type="sibTrans" cxnId="{D3DD4BE3-A1DA-4222-AF6E-D46A03DA04C6}">
      <dgm:prSet/>
      <dgm:spPr/>
      <dgm:t>
        <a:bodyPr/>
        <a:lstStyle/>
        <a:p>
          <a:endParaRPr lang="en-US"/>
        </a:p>
      </dgm:t>
    </dgm:pt>
    <dgm:pt modelId="{5654EB71-40E4-4E12-AE0E-AD70145DB137}">
      <dgm:prSet/>
      <dgm:spPr/>
      <dgm:t>
        <a:bodyPr/>
        <a:lstStyle/>
        <a:p>
          <a:r>
            <a:rPr lang="en-US"/>
            <a:t>3	0.008700	0.031669	0.994259	0.994253</a:t>
          </a:r>
        </a:p>
      </dgm:t>
    </dgm:pt>
    <dgm:pt modelId="{F7081C36-1CB6-4BC2-AC8B-0EA63CC75347}" type="parTrans" cxnId="{AB06C130-0D11-4248-A3CB-3B3094096162}">
      <dgm:prSet/>
      <dgm:spPr/>
      <dgm:t>
        <a:bodyPr/>
        <a:lstStyle/>
        <a:p>
          <a:endParaRPr lang="en-US"/>
        </a:p>
      </dgm:t>
    </dgm:pt>
    <dgm:pt modelId="{DE9BC578-3012-4BF8-83B0-56203953408C}" type="sibTrans" cxnId="{AB06C130-0D11-4248-A3CB-3B3094096162}">
      <dgm:prSet/>
      <dgm:spPr/>
      <dgm:t>
        <a:bodyPr/>
        <a:lstStyle/>
        <a:p>
          <a:endParaRPr lang="en-US"/>
        </a:p>
      </dgm:t>
    </dgm:pt>
    <dgm:pt modelId="{9BE73913-936B-4D22-B5B3-D6096ADDE56F}" type="pres">
      <dgm:prSet presAssocID="{F3C066E9-742F-44D0-A178-2F0BA96DD87E}" presName="vert0" presStyleCnt="0">
        <dgm:presLayoutVars>
          <dgm:dir/>
          <dgm:animOne val="branch"/>
          <dgm:animLvl val="lvl"/>
        </dgm:presLayoutVars>
      </dgm:prSet>
      <dgm:spPr/>
    </dgm:pt>
    <dgm:pt modelId="{E5363C61-35FE-4DF4-86E6-77278B2F10AA}" type="pres">
      <dgm:prSet presAssocID="{E2B8D2A3-CF4B-4812-88F5-8DDBC1CE8548}" presName="thickLine" presStyleLbl="alignNode1" presStyleIdx="0" presStyleCnt="4"/>
      <dgm:spPr/>
    </dgm:pt>
    <dgm:pt modelId="{913C33EF-8A28-47D6-A5C7-96640CCA5431}" type="pres">
      <dgm:prSet presAssocID="{E2B8D2A3-CF4B-4812-88F5-8DDBC1CE8548}" presName="horz1" presStyleCnt="0"/>
      <dgm:spPr/>
    </dgm:pt>
    <dgm:pt modelId="{22CB7773-883C-4049-A5F2-26282A7F6D72}" type="pres">
      <dgm:prSet presAssocID="{E2B8D2A3-CF4B-4812-88F5-8DDBC1CE8548}" presName="tx1" presStyleLbl="revTx" presStyleIdx="0" presStyleCnt="4"/>
      <dgm:spPr/>
    </dgm:pt>
    <dgm:pt modelId="{0635A62E-1B46-4DAD-9308-D9FB427FDA2F}" type="pres">
      <dgm:prSet presAssocID="{E2B8D2A3-CF4B-4812-88F5-8DDBC1CE8548}" presName="vert1" presStyleCnt="0"/>
      <dgm:spPr/>
    </dgm:pt>
    <dgm:pt modelId="{76152827-D927-42A1-8F77-8B710E797D67}" type="pres">
      <dgm:prSet presAssocID="{77D041E6-3711-43DA-B062-CD0318BC52E1}" presName="thickLine" presStyleLbl="alignNode1" presStyleIdx="1" presStyleCnt="4"/>
      <dgm:spPr/>
    </dgm:pt>
    <dgm:pt modelId="{42B81EA6-B2B9-4914-8458-D12BC10F2C36}" type="pres">
      <dgm:prSet presAssocID="{77D041E6-3711-43DA-B062-CD0318BC52E1}" presName="horz1" presStyleCnt="0"/>
      <dgm:spPr/>
    </dgm:pt>
    <dgm:pt modelId="{40553FC5-402D-49C9-AA42-5F53D578AD02}" type="pres">
      <dgm:prSet presAssocID="{77D041E6-3711-43DA-B062-CD0318BC52E1}" presName="tx1" presStyleLbl="revTx" presStyleIdx="1" presStyleCnt="4"/>
      <dgm:spPr/>
    </dgm:pt>
    <dgm:pt modelId="{CDD463E3-3498-4B6C-8C45-809A2F1DB20E}" type="pres">
      <dgm:prSet presAssocID="{77D041E6-3711-43DA-B062-CD0318BC52E1}" presName="vert1" presStyleCnt="0"/>
      <dgm:spPr/>
    </dgm:pt>
    <dgm:pt modelId="{DF4E55E6-5F00-47F5-B0FD-2AC4D269AF81}" type="pres">
      <dgm:prSet presAssocID="{4906EECE-F166-47F7-AD5D-EB9622D63799}" presName="thickLine" presStyleLbl="alignNode1" presStyleIdx="2" presStyleCnt="4"/>
      <dgm:spPr/>
    </dgm:pt>
    <dgm:pt modelId="{47912527-44BE-4F7A-A089-CFA85808F1C8}" type="pres">
      <dgm:prSet presAssocID="{4906EECE-F166-47F7-AD5D-EB9622D63799}" presName="horz1" presStyleCnt="0"/>
      <dgm:spPr/>
    </dgm:pt>
    <dgm:pt modelId="{5FE929E1-FDCF-4BF7-B108-45C7E484C41C}" type="pres">
      <dgm:prSet presAssocID="{4906EECE-F166-47F7-AD5D-EB9622D63799}" presName="tx1" presStyleLbl="revTx" presStyleIdx="2" presStyleCnt="4"/>
      <dgm:spPr/>
    </dgm:pt>
    <dgm:pt modelId="{B05811AA-6889-4F99-9E12-3BDE4371AE99}" type="pres">
      <dgm:prSet presAssocID="{4906EECE-F166-47F7-AD5D-EB9622D63799}" presName="vert1" presStyleCnt="0"/>
      <dgm:spPr/>
    </dgm:pt>
    <dgm:pt modelId="{5173292D-C96F-4498-A6E2-80A4E7AD3335}" type="pres">
      <dgm:prSet presAssocID="{5654EB71-40E4-4E12-AE0E-AD70145DB137}" presName="thickLine" presStyleLbl="alignNode1" presStyleIdx="3" presStyleCnt="4"/>
      <dgm:spPr/>
    </dgm:pt>
    <dgm:pt modelId="{65C22644-683F-45A4-8EB7-77150EC4FE8B}" type="pres">
      <dgm:prSet presAssocID="{5654EB71-40E4-4E12-AE0E-AD70145DB137}" presName="horz1" presStyleCnt="0"/>
      <dgm:spPr/>
    </dgm:pt>
    <dgm:pt modelId="{9046B6DD-ABA7-4073-83AE-9C8D06C6F677}" type="pres">
      <dgm:prSet presAssocID="{5654EB71-40E4-4E12-AE0E-AD70145DB137}" presName="tx1" presStyleLbl="revTx" presStyleIdx="3" presStyleCnt="4"/>
      <dgm:spPr/>
    </dgm:pt>
    <dgm:pt modelId="{7A017A31-EABD-45C0-8294-17E6DE877B06}" type="pres">
      <dgm:prSet presAssocID="{5654EB71-40E4-4E12-AE0E-AD70145DB137}" presName="vert1" presStyleCnt="0"/>
      <dgm:spPr/>
    </dgm:pt>
  </dgm:ptLst>
  <dgm:cxnLst>
    <dgm:cxn modelId="{5AFE3F03-25CB-4876-8C96-560576168624}" srcId="{F3C066E9-742F-44D0-A178-2F0BA96DD87E}" destId="{E2B8D2A3-CF4B-4812-88F5-8DDBC1CE8548}" srcOrd="0" destOrd="0" parTransId="{21F5A298-A9E5-427E-9E84-124B1F61075D}" sibTransId="{69918297-9C9A-41AD-AC67-B607F68ADDBD}"/>
    <dgm:cxn modelId="{329A7E25-E526-4D2A-A021-270AFF788C82}" type="presOf" srcId="{E2B8D2A3-CF4B-4812-88F5-8DDBC1CE8548}" destId="{22CB7773-883C-4049-A5F2-26282A7F6D72}" srcOrd="0" destOrd="0" presId="urn:microsoft.com/office/officeart/2008/layout/LinedList"/>
    <dgm:cxn modelId="{5264B92D-0D3F-4C3F-A25A-3195080AC317}" type="presOf" srcId="{5654EB71-40E4-4E12-AE0E-AD70145DB137}" destId="{9046B6DD-ABA7-4073-83AE-9C8D06C6F677}" srcOrd="0" destOrd="0" presId="urn:microsoft.com/office/officeart/2008/layout/LinedList"/>
    <dgm:cxn modelId="{AB06C130-0D11-4248-A3CB-3B3094096162}" srcId="{F3C066E9-742F-44D0-A178-2F0BA96DD87E}" destId="{5654EB71-40E4-4E12-AE0E-AD70145DB137}" srcOrd="3" destOrd="0" parTransId="{F7081C36-1CB6-4BC2-AC8B-0EA63CC75347}" sibTransId="{DE9BC578-3012-4BF8-83B0-56203953408C}"/>
    <dgm:cxn modelId="{306A443A-0458-45BE-841B-8CCB6FDC2C91}" type="presOf" srcId="{77D041E6-3711-43DA-B062-CD0318BC52E1}" destId="{40553FC5-402D-49C9-AA42-5F53D578AD02}" srcOrd="0" destOrd="0" presId="urn:microsoft.com/office/officeart/2008/layout/LinedList"/>
    <dgm:cxn modelId="{BFDCBE93-C023-470C-A5CC-BBDFCE4E2A98}" srcId="{F3C066E9-742F-44D0-A178-2F0BA96DD87E}" destId="{77D041E6-3711-43DA-B062-CD0318BC52E1}" srcOrd="1" destOrd="0" parTransId="{7122FA46-9C3E-46C8-B836-13EDEF6DB712}" sibTransId="{8DF15C9C-583D-4CFD-86BB-D18DCA500FBF}"/>
    <dgm:cxn modelId="{14555796-8559-4793-B025-8A5138AEF041}" type="presOf" srcId="{F3C066E9-742F-44D0-A178-2F0BA96DD87E}" destId="{9BE73913-936B-4D22-B5B3-D6096ADDE56F}" srcOrd="0" destOrd="0" presId="urn:microsoft.com/office/officeart/2008/layout/LinedList"/>
    <dgm:cxn modelId="{D3DD4BE3-A1DA-4222-AF6E-D46A03DA04C6}" srcId="{F3C066E9-742F-44D0-A178-2F0BA96DD87E}" destId="{4906EECE-F166-47F7-AD5D-EB9622D63799}" srcOrd="2" destOrd="0" parTransId="{DA734D4E-0C89-44DE-9247-78C820C3C962}" sibTransId="{3E1FE4FF-08F7-4331-9DB8-2525CD91E8BB}"/>
    <dgm:cxn modelId="{AD1001E9-75CC-4250-B99E-255B84051E8F}" type="presOf" srcId="{4906EECE-F166-47F7-AD5D-EB9622D63799}" destId="{5FE929E1-FDCF-4BF7-B108-45C7E484C41C}" srcOrd="0" destOrd="0" presId="urn:microsoft.com/office/officeart/2008/layout/LinedList"/>
    <dgm:cxn modelId="{7ABD3382-6B4D-49EF-8858-4B737D2C48C0}" type="presParOf" srcId="{9BE73913-936B-4D22-B5B3-D6096ADDE56F}" destId="{E5363C61-35FE-4DF4-86E6-77278B2F10AA}" srcOrd="0" destOrd="0" presId="urn:microsoft.com/office/officeart/2008/layout/LinedList"/>
    <dgm:cxn modelId="{27BA56E6-CABC-495B-A984-144449D42185}" type="presParOf" srcId="{9BE73913-936B-4D22-B5B3-D6096ADDE56F}" destId="{913C33EF-8A28-47D6-A5C7-96640CCA5431}" srcOrd="1" destOrd="0" presId="urn:microsoft.com/office/officeart/2008/layout/LinedList"/>
    <dgm:cxn modelId="{6BD13C90-16CD-4A3B-BF07-19E731DA2F27}" type="presParOf" srcId="{913C33EF-8A28-47D6-A5C7-96640CCA5431}" destId="{22CB7773-883C-4049-A5F2-26282A7F6D72}" srcOrd="0" destOrd="0" presId="urn:microsoft.com/office/officeart/2008/layout/LinedList"/>
    <dgm:cxn modelId="{8B22001C-E361-41B7-8E64-14C3B3EE38FA}" type="presParOf" srcId="{913C33EF-8A28-47D6-A5C7-96640CCA5431}" destId="{0635A62E-1B46-4DAD-9308-D9FB427FDA2F}" srcOrd="1" destOrd="0" presId="urn:microsoft.com/office/officeart/2008/layout/LinedList"/>
    <dgm:cxn modelId="{D79D222C-7677-4C01-8D15-733FB79F3EE2}" type="presParOf" srcId="{9BE73913-936B-4D22-B5B3-D6096ADDE56F}" destId="{76152827-D927-42A1-8F77-8B710E797D67}" srcOrd="2" destOrd="0" presId="urn:microsoft.com/office/officeart/2008/layout/LinedList"/>
    <dgm:cxn modelId="{B5917095-6ADA-4433-AD66-8D578CB0B6BE}" type="presParOf" srcId="{9BE73913-936B-4D22-B5B3-D6096ADDE56F}" destId="{42B81EA6-B2B9-4914-8458-D12BC10F2C36}" srcOrd="3" destOrd="0" presId="urn:microsoft.com/office/officeart/2008/layout/LinedList"/>
    <dgm:cxn modelId="{6E04A919-1D31-4EC0-BAB5-BF17DCC639E8}" type="presParOf" srcId="{42B81EA6-B2B9-4914-8458-D12BC10F2C36}" destId="{40553FC5-402D-49C9-AA42-5F53D578AD02}" srcOrd="0" destOrd="0" presId="urn:microsoft.com/office/officeart/2008/layout/LinedList"/>
    <dgm:cxn modelId="{22FF8F6D-B901-4FAE-AC3D-6AEAF249DC96}" type="presParOf" srcId="{42B81EA6-B2B9-4914-8458-D12BC10F2C36}" destId="{CDD463E3-3498-4B6C-8C45-809A2F1DB20E}" srcOrd="1" destOrd="0" presId="urn:microsoft.com/office/officeart/2008/layout/LinedList"/>
    <dgm:cxn modelId="{1CF09750-7BBD-4CF3-BBCD-2072E55872DE}" type="presParOf" srcId="{9BE73913-936B-4D22-B5B3-D6096ADDE56F}" destId="{DF4E55E6-5F00-47F5-B0FD-2AC4D269AF81}" srcOrd="4" destOrd="0" presId="urn:microsoft.com/office/officeart/2008/layout/LinedList"/>
    <dgm:cxn modelId="{8E02318A-D33D-4FD4-A62C-5DBFC6A59D0C}" type="presParOf" srcId="{9BE73913-936B-4D22-B5B3-D6096ADDE56F}" destId="{47912527-44BE-4F7A-A089-CFA85808F1C8}" srcOrd="5" destOrd="0" presId="urn:microsoft.com/office/officeart/2008/layout/LinedList"/>
    <dgm:cxn modelId="{AD6A21B8-AD39-4D69-8389-1AEB34973F08}" type="presParOf" srcId="{47912527-44BE-4F7A-A089-CFA85808F1C8}" destId="{5FE929E1-FDCF-4BF7-B108-45C7E484C41C}" srcOrd="0" destOrd="0" presId="urn:microsoft.com/office/officeart/2008/layout/LinedList"/>
    <dgm:cxn modelId="{38E11676-76D6-4218-BCBD-6C090F52B558}" type="presParOf" srcId="{47912527-44BE-4F7A-A089-CFA85808F1C8}" destId="{B05811AA-6889-4F99-9E12-3BDE4371AE99}" srcOrd="1" destOrd="0" presId="urn:microsoft.com/office/officeart/2008/layout/LinedList"/>
    <dgm:cxn modelId="{FF47E726-5893-409C-B1EF-6A198F1FC141}" type="presParOf" srcId="{9BE73913-936B-4D22-B5B3-D6096ADDE56F}" destId="{5173292D-C96F-4498-A6E2-80A4E7AD3335}" srcOrd="6" destOrd="0" presId="urn:microsoft.com/office/officeart/2008/layout/LinedList"/>
    <dgm:cxn modelId="{97BEB6BA-7A1F-4E51-84E7-CF7410B1D068}" type="presParOf" srcId="{9BE73913-936B-4D22-B5B3-D6096ADDE56F}" destId="{65C22644-683F-45A4-8EB7-77150EC4FE8B}" srcOrd="7" destOrd="0" presId="urn:microsoft.com/office/officeart/2008/layout/LinedList"/>
    <dgm:cxn modelId="{A89BC3AC-18DE-4E5A-B2C9-37A06D643047}" type="presParOf" srcId="{65C22644-683F-45A4-8EB7-77150EC4FE8B}" destId="{9046B6DD-ABA7-4073-83AE-9C8D06C6F677}" srcOrd="0" destOrd="0" presId="urn:microsoft.com/office/officeart/2008/layout/LinedList"/>
    <dgm:cxn modelId="{AE531C3E-E9F7-48BF-954A-D203C2A5F7B1}" type="presParOf" srcId="{65C22644-683F-45A4-8EB7-77150EC4FE8B}" destId="{7A017A31-EABD-45C0-8294-17E6DE877B0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F25A5D-FE09-4B29-8DF8-5AE5994815E5}"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A34ED5F8-9DEB-407D-A90A-FBB7BA53C537}">
      <dgm:prSet custT="1"/>
      <dgm:spPr/>
      <dgm:t>
        <a:bodyPr/>
        <a:lstStyle/>
        <a:p>
          <a:r>
            <a:rPr lang="en-US" sz="2000"/>
            <a:t>Epoch	Training Loss	Validation Loss	Accuracy	F1</a:t>
          </a:r>
        </a:p>
      </dgm:t>
    </dgm:pt>
    <dgm:pt modelId="{753A51E9-B462-49BA-8365-B63AE51C6002}" type="parTrans" cxnId="{E6819BE9-FD23-4469-92C2-6A3C2293C9A1}">
      <dgm:prSet/>
      <dgm:spPr/>
      <dgm:t>
        <a:bodyPr/>
        <a:lstStyle/>
        <a:p>
          <a:endParaRPr lang="en-US" sz="2000"/>
        </a:p>
      </dgm:t>
    </dgm:pt>
    <dgm:pt modelId="{9975EBFB-0FA6-4440-9726-42FD89CAA99A}" type="sibTrans" cxnId="{E6819BE9-FD23-4469-92C2-6A3C2293C9A1}">
      <dgm:prSet/>
      <dgm:spPr/>
      <dgm:t>
        <a:bodyPr/>
        <a:lstStyle/>
        <a:p>
          <a:endParaRPr lang="en-US" sz="2000"/>
        </a:p>
      </dgm:t>
    </dgm:pt>
    <dgm:pt modelId="{410FEB74-5FEC-416D-A3DC-1D9FA7A8150A}">
      <dgm:prSet custT="1"/>
      <dgm:spPr/>
      <dgm:t>
        <a:bodyPr/>
        <a:lstStyle/>
        <a:p>
          <a:r>
            <a:rPr lang="en-US" sz="2000"/>
            <a:t>1	0.028400	0.024880	0.994128	0.994121</a:t>
          </a:r>
        </a:p>
      </dgm:t>
    </dgm:pt>
    <dgm:pt modelId="{67F25603-CD9A-4DE9-9055-7F3985AF57B9}" type="parTrans" cxnId="{460C8B8F-E528-481B-AE14-1DA1E6E93BFE}">
      <dgm:prSet/>
      <dgm:spPr/>
      <dgm:t>
        <a:bodyPr/>
        <a:lstStyle/>
        <a:p>
          <a:endParaRPr lang="en-US" sz="2000"/>
        </a:p>
      </dgm:t>
    </dgm:pt>
    <dgm:pt modelId="{0D46F33B-002E-4993-84A4-A663684BBAAE}" type="sibTrans" cxnId="{460C8B8F-E528-481B-AE14-1DA1E6E93BFE}">
      <dgm:prSet/>
      <dgm:spPr/>
      <dgm:t>
        <a:bodyPr/>
        <a:lstStyle/>
        <a:p>
          <a:endParaRPr lang="en-US" sz="2000"/>
        </a:p>
      </dgm:t>
    </dgm:pt>
    <dgm:pt modelId="{DA050DED-BFC6-4CE7-BF5A-2537ED3FEADE}">
      <dgm:prSet custT="1"/>
      <dgm:spPr/>
      <dgm:t>
        <a:bodyPr/>
        <a:lstStyle/>
        <a:p>
          <a:r>
            <a:rPr lang="en-US" sz="2000"/>
            <a:t>2	0.013100	0.025017	0.993998	0.993995</a:t>
          </a:r>
        </a:p>
      </dgm:t>
    </dgm:pt>
    <dgm:pt modelId="{48ACC3F3-6426-400B-9754-2B21EE1C6B3E}" type="parTrans" cxnId="{F4D63B3C-3739-407D-AFFE-ED03C5A303A7}">
      <dgm:prSet/>
      <dgm:spPr/>
      <dgm:t>
        <a:bodyPr/>
        <a:lstStyle/>
        <a:p>
          <a:endParaRPr lang="en-US" sz="2000"/>
        </a:p>
      </dgm:t>
    </dgm:pt>
    <dgm:pt modelId="{972A182F-968A-4C2C-A69E-2203D95A93E8}" type="sibTrans" cxnId="{F4D63B3C-3739-407D-AFFE-ED03C5A303A7}">
      <dgm:prSet/>
      <dgm:spPr/>
      <dgm:t>
        <a:bodyPr/>
        <a:lstStyle/>
        <a:p>
          <a:endParaRPr lang="en-US" sz="2000"/>
        </a:p>
      </dgm:t>
    </dgm:pt>
    <dgm:pt modelId="{7FCCC110-17BB-4EF5-ABE3-348F15965928}">
      <dgm:prSet custT="1"/>
      <dgm:spPr/>
      <dgm:t>
        <a:bodyPr/>
        <a:lstStyle/>
        <a:p>
          <a:r>
            <a:rPr lang="en-US" sz="2000" dirty="0"/>
            <a:t>3	0.007500	0.027508	0.994911	0.994907</a:t>
          </a:r>
        </a:p>
      </dgm:t>
    </dgm:pt>
    <dgm:pt modelId="{55E56BFB-92F9-41BB-9D87-754A340FF019}" type="parTrans" cxnId="{33492EF9-74E8-4640-A9D4-2A7AA608CA08}">
      <dgm:prSet/>
      <dgm:spPr/>
      <dgm:t>
        <a:bodyPr/>
        <a:lstStyle/>
        <a:p>
          <a:endParaRPr lang="en-US" sz="2000"/>
        </a:p>
      </dgm:t>
    </dgm:pt>
    <dgm:pt modelId="{4730EB93-006F-4886-8845-CE7BE28B019A}" type="sibTrans" cxnId="{33492EF9-74E8-4640-A9D4-2A7AA608CA08}">
      <dgm:prSet/>
      <dgm:spPr/>
      <dgm:t>
        <a:bodyPr/>
        <a:lstStyle/>
        <a:p>
          <a:endParaRPr lang="en-US" sz="2000"/>
        </a:p>
      </dgm:t>
    </dgm:pt>
    <dgm:pt modelId="{6BBBCE3B-E40E-4492-9330-FC3AC08340FC}" type="pres">
      <dgm:prSet presAssocID="{2FF25A5D-FE09-4B29-8DF8-5AE5994815E5}" presName="vert0" presStyleCnt="0">
        <dgm:presLayoutVars>
          <dgm:dir/>
          <dgm:animOne val="branch"/>
          <dgm:animLvl val="lvl"/>
        </dgm:presLayoutVars>
      </dgm:prSet>
      <dgm:spPr/>
    </dgm:pt>
    <dgm:pt modelId="{3997E945-533E-45E6-B860-D418CFF23441}" type="pres">
      <dgm:prSet presAssocID="{A34ED5F8-9DEB-407D-A90A-FBB7BA53C537}" presName="thickLine" presStyleLbl="alignNode1" presStyleIdx="0" presStyleCnt="4"/>
      <dgm:spPr/>
    </dgm:pt>
    <dgm:pt modelId="{FC71A9F5-9739-4D5B-A79F-769D67BEE2E1}" type="pres">
      <dgm:prSet presAssocID="{A34ED5F8-9DEB-407D-A90A-FBB7BA53C537}" presName="horz1" presStyleCnt="0"/>
      <dgm:spPr/>
    </dgm:pt>
    <dgm:pt modelId="{B6DC715E-68C4-4870-838E-11147D79849A}" type="pres">
      <dgm:prSet presAssocID="{A34ED5F8-9DEB-407D-A90A-FBB7BA53C537}" presName="tx1" presStyleLbl="revTx" presStyleIdx="0" presStyleCnt="4"/>
      <dgm:spPr/>
    </dgm:pt>
    <dgm:pt modelId="{95427405-8B0D-4665-91E8-29555020ACC2}" type="pres">
      <dgm:prSet presAssocID="{A34ED5F8-9DEB-407D-A90A-FBB7BA53C537}" presName="vert1" presStyleCnt="0"/>
      <dgm:spPr/>
    </dgm:pt>
    <dgm:pt modelId="{3A42A15E-852E-4CC2-9E0B-02408EFE7BFA}" type="pres">
      <dgm:prSet presAssocID="{410FEB74-5FEC-416D-A3DC-1D9FA7A8150A}" presName="thickLine" presStyleLbl="alignNode1" presStyleIdx="1" presStyleCnt="4"/>
      <dgm:spPr/>
    </dgm:pt>
    <dgm:pt modelId="{B9AB88E8-EA3A-4DE2-A0C6-442435FB42F0}" type="pres">
      <dgm:prSet presAssocID="{410FEB74-5FEC-416D-A3DC-1D9FA7A8150A}" presName="horz1" presStyleCnt="0"/>
      <dgm:spPr/>
    </dgm:pt>
    <dgm:pt modelId="{D92E47AF-1BFB-4A3E-A3E8-A06277D8AE6E}" type="pres">
      <dgm:prSet presAssocID="{410FEB74-5FEC-416D-A3DC-1D9FA7A8150A}" presName="tx1" presStyleLbl="revTx" presStyleIdx="1" presStyleCnt="4"/>
      <dgm:spPr/>
    </dgm:pt>
    <dgm:pt modelId="{207EBD59-5E7F-48F3-8F9F-5D9B1B3ACD31}" type="pres">
      <dgm:prSet presAssocID="{410FEB74-5FEC-416D-A3DC-1D9FA7A8150A}" presName="vert1" presStyleCnt="0"/>
      <dgm:spPr/>
    </dgm:pt>
    <dgm:pt modelId="{AEF5DD8D-4FBF-4287-8794-583EDD6B5307}" type="pres">
      <dgm:prSet presAssocID="{DA050DED-BFC6-4CE7-BF5A-2537ED3FEADE}" presName="thickLine" presStyleLbl="alignNode1" presStyleIdx="2" presStyleCnt="4"/>
      <dgm:spPr/>
    </dgm:pt>
    <dgm:pt modelId="{0678C6FD-80C6-4B26-862C-1D42165F2772}" type="pres">
      <dgm:prSet presAssocID="{DA050DED-BFC6-4CE7-BF5A-2537ED3FEADE}" presName="horz1" presStyleCnt="0"/>
      <dgm:spPr/>
    </dgm:pt>
    <dgm:pt modelId="{A9AE1010-CCB0-4F37-939E-D0137C85BA15}" type="pres">
      <dgm:prSet presAssocID="{DA050DED-BFC6-4CE7-BF5A-2537ED3FEADE}" presName="tx1" presStyleLbl="revTx" presStyleIdx="2" presStyleCnt="4"/>
      <dgm:spPr/>
    </dgm:pt>
    <dgm:pt modelId="{7A74E97E-40D9-44D4-9BA0-6B44A61670E9}" type="pres">
      <dgm:prSet presAssocID="{DA050DED-BFC6-4CE7-BF5A-2537ED3FEADE}" presName="vert1" presStyleCnt="0"/>
      <dgm:spPr/>
    </dgm:pt>
    <dgm:pt modelId="{753B2AEC-FE69-4E36-9441-005559B61CD8}" type="pres">
      <dgm:prSet presAssocID="{7FCCC110-17BB-4EF5-ABE3-348F15965928}" presName="thickLine" presStyleLbl="alignNode1" presStyleIdx="3" presStyleCnt="4"/>
      <dgm:spPr/>
    </dgm:pt>
    <dgm:pt modelId="{82AE031A-DDE7-450A-8D6D-630A71B97AEE}" type="pres">
      <dgm:prSet presAssocID="{7FCCC110-17BB-4EF5-ABE3-348F15965928}" presName="horz1" presStyleCnt="0"/>
      <dgm:spPr/>
    </dgm:pt>
    <dgm:pt modelId="{DDF31E1B-4B35-496A-95A6-C15C3728274A}" type="pres">
      <dgm:prSet presAssocID="{7FCCC110-17BB-4EF5-ABE3-348F15965928}" presName="tx1" presStyleLbl="revTx" presStyleIdx="3" presStyleCnt="4"/>
      <dgm:spPr/>
    </dgm:pt>
    <dgm:pt modelId="{9AA7971E-9BC6-4BD4-9C08-905FDEA6ADE6}" type="pres">
      <dgm:prSet presAssocID="{7FCCC110-17BB-4EF5-ABE3-348F15965928}" presName="vert1" presStyleCnt="0"/>
      <dgm:spPr/>
    </dgm:pt>
  </dgm:ptLst>
  <dgm:cxnLst>
    <dgm:cxn modelId="{F4D63B3C-3739-407D-AFFE-ED03C5A303A7}" srcId="{2FF25A5D-FE09-4B29-8DF8-5AE5994815E5}" destId="{DA050DED-BFC6-4CE7-BF5A-2537ED3FEADE}" srcOrd="2" destOrd="0" parTransId="{48ACC3F3-6426-400B-9754-2B21EE1C6B3E}" sibTransId="{972A182F-968A-4C2C-A69E-2203D95A93E8}"/>
    <dgm:cxn modelId="{9521F37E-B194-488F-861A-96DF1687E3DC}" type="presOf" srcId="{2FF25A5D-FE09-4B29-8DF8-5AE5994815E5}" destId="{6BBBCE3B-E40E-4492-9330-FC3AC08340FC}" srcOrd="0" destOrd="0" presId="urn:microsoft.com/office/officeart/2008/layout/LinedList"/>
    <dgm:cxn modelId="{460C8B8F-E528-481B-AE14-1DA1E6E93BFE}" srcId="{2FF25A5D-FE09-4B29-8DF8-5AE5994815E5}" destId="{410FEB74-5FEC-416D-A3DC-1D9FA7A8150A}" srcOrd="1" destOrd="0" parTransId="{67F25603-CD9A-4DE9-9055-7F3985AF57B9}" sibTransId="{0D46F33B-002E-4993-84A4-A663684BBAAE}"/>
    <dgm:cxn modelId="{45B9A6A0-96C7-4D42-9622-C90007641473}" type="presOf" srcId="{7FCCC110-17BB-4EF5-ABE3-348F15965928}" destId="{DDF31E1B-4B35-496A-95A6-C15C3728274A}" srcOrd="0" destOrd="0" presId="urn:microsoft.com/office/officeart/2008/layout/LinedList"/>
    <dgm:cxn modelId="{704EB1E1-253D-4C8E-9B56-6A808DA625EB}" type="presOf" srcId="{DA050DED-BFC6-4CE7-BF5A-2537ED3FEADE}" destId="{A9AE1010-CCB0-4F37-939E-D0137C85BA15}" srcOrd="0" destOrd="0" presId="urn:microsoft.com/office/officeart/2008/layout/LinedList"/>
    <dgm:cxn modelId="{E6819BE9-FD23-4469-92C2-6A3C2293C9A1}" srcId="{2FF25A5D-FE09-4B29-8DF8-5AE5994815E5}" destId="{A34ED5F8-9DEB-407D-A90A-FBB7BA53C537}" srcOrd="0" destOrd="0" parTransId="{753A51E9-B462-49BA-8365-B63AE51C6002}" sibTransId="{9975EBFB-0FA6-4440-9726-42FD89CAA99A}"/>
    <dgm:cxn modelId="{E763D7F0-1430-4638-A557-0F8384008537}" type="presOf" srcId="{A34ED5F8-9DEB-407D-A90A-FBB7BA53C537}" destId="{B6DC715E-68C4-4870-838E-11147D79849A}" srcOrd="0" destOrd="0" presId="urn:microsoft.com/office/officeart/2008/layout/LinedList"/>
    <dgm:cxn modelId="{33492EF9-74E8-4640-A9D4-2A7AA608CA08}" srcId="{2FF25A5D-FE09-4B29-8DF8-5AE5994815E5}" destId="{7FCCC110-17BB-4EF5-ABE3-348F15965928}" srcOrd="3" destOrd="0" parTransId="{55E56BFB-92F9-41BB-9D87-754A340FF019}" sibTransId="{4730EB93-006F-4886-8845-CE7BE28B019A}"/>
    <dgm:cxn modelId="{A06F42FA-71CB-48E9-B16A-AF28A3B452D7}" type="presOf" srcId="{410FEB74-5FEC-416D-A3DC-1D9FA7A8150A}" destId="{D92E47AF-1BFB-4A3E-A3E8-A06277D8AE6E}" srcOrd="0" destOrd="0" presId="urn:microsoft.com/office/officeart/2008/layout/LinedList"/>
    <dgm:cxn modelId="{4AD487D2-426B-464D-A5C1-7CD9318C2080}" type="presParOf" srcId="{6BBBCE3B-E40E-4492-9330-FC3AC08340FC}" destId="{3997E945-533E-45E6-B860-D418CFF23441}" srcOrd="0" destOrd="0" presId="urn:microsoft.com/office/officeart/2008/layout/LinedList"/>
    <dgm:cxn modelId="{51E5C283-9C4C-441C-AA90-D4637170C07A}" type="presParOf" srcId="{6BBBCE3B-E40E-4492-9330-FC3AC08340FC}" destId="{FC71A9F5-9739-4D5B-A79F-769D67BEE2E1}" srcOrd="1" destOrd="0" presId="urn:microsoft.com/office/officeart/2008/layout/LinedList"/>
    <dgm:cxn modelId="{4BD71131-2329-4A89-B37C-28AA630A52CA}" type="presParOf" srcId="{FC71A9F5-9739-4D5B-A79F-769D67BEE2E1}" destId="{B6DC715E-68C4-4870-838E-11147D79849A}" srcOrd="0" destOrd="0" presId="urn:microsoft.com/office/officeart/2008/layout/LinedList"/>
    <dgm:cxn modelId="{2CE5A59B-D8C5-4F64-B1CF-E64DFBC10EA5}" type="presParOf" srcId="{FC71A9F5-9739-4D5B-A79F-769D67BEE2E1}" destId="{95427405-8B0D-4665-91E8-29555020ACC2}" srcOrd="1" destOrd="0" presId="urn:microsoft.com/office/officeart/2008/layout/LinedList"/>
    <dgm:cxn modelId="{7DCFB967-DB25-444B-9233-A89967FE7E3E}" type="presParOf" srcId="{6BBBCE3B-E40E-4492-9330-FC3AC08340FC}" destId="{3A42A15E-852E-4CC2-9E0B-02408EFE7BFA}" srcOrd="2" destOrd="0" presId="urn:microsoft.com/office/officeart/2008/layout/LinedList"/>
    <dgm:cxn modelId="{604EB578-6971-4667-B56E-3C2D607F7F18}" type="presParOf" srcId="{6BBBCE3B-E40E-4492-9330-FC3AC08340FC}" destId="{B9AB88E8-EA3A-4DE2-A0C6-442435FB42F0}" srcOrd="3" destOrd="0" presId="urn:microsoft.com/office/officeart/2008/layout/LinedList"/>
    <dgm:cxn modelId="{4C479D41-42F2-4C14-9830-D4320A8C03B0}" type="presParOf" srcId="{B9AB88E8-EA3A-4DE2-A0C6-442435FB42F0}" destId="{D92E47AF-1BFB-4A3E-A3E8-A06277D8AE6E}" srcOrd="0" destOrd="0" presId="urn:microsoft.com/office/officeart/2008/layout/LinedList"/>
    <dgm:cxn modelId="{3450D2EA-7A2C-4581-B718-A18C980C34D0}" type="presParOf" srcId="{B9AB88E8-EA3A-4DE2-A0C6-442435FB42F0}" destId="{207EBD59-5E7F-48F3-8F9F-5D9B1B3ACD31}" srcOrd="1" destOrd="0" presId="urn:microsoft.com/office/officeart/2008/layout/LinedList"/>
    <dgm:cxn modelId="{7D64636F-7D10-4C87-8117-A4A9EB7EF925}" type="presParOf" srcId="{6BBBCE3B-E40E-4492-9330-FC3AC08340FC}" destId="{AEF5DD8D-4FBF-4287-8794-583EDD6B5307}" srcOrd="4" destOrd="0" presId="urn:microsoft.com/office/officeart/2008/layout/LinedList"/>
    <dgm:cxn modelId="{1DE8A8F1-38C5-4CCE-B8CD-36D8A89C7553}" type="presParOf" srcId="{6BBBCE3B-E40E-4492-9330-FC3AC08340FC}" destId="{0678C6FD-80C6-4B26-862C-1D42165F2772}" srcOrd="5" destOrd="0" presId="urn:microsoft.com/office/officeart/2008/layout/LinedList"/>
    <dgm:cxn modelId="{B33C483E-B1D6-49D5-817B-07D6CF80E6FD}" type="presParOf" srcId="{0678C6FD-80C6-4B26-862C-1D42165F2772}" destId="{A9AE1010-CCB0-4F37-939E-D0137C85BA15}" srcOrd="0" destOrd="0" presId="urn:microsoft.com/office/officeart/2008/layout/LinedList"/>
    <dgm:cxn modelId="{7B31CD00-083D-4B9D-AAD2-4CBA533FF223}" type="presParOf" srcId="{0678C6FD-80C6-4B26-862C-1D42165F2772}" destId="{7A74E97E-40D9-44D4-9BA0-6B44A61670E9}" srcOrd="1" destOrd="0" presId="urn:microsoft.com/office/officeart/2008/layout/LinedList"/>
    <dgm:cxn modelId="{8E8E4BEC-2649-4B38-ABEC-7D01C588562B}" type="presParOf" srcId="{6BBBCE3B-E40E-4492-9330-FC3AC08340FC}" destId="{753B2AEC-FE69-4E36-9441-005559B61CD8}" srcOrd="6" destOrd="0" presId="urn:microsoft.com/office/officeart/2008/layout/LinedList"/>
    <dgm:cxn modelId="{63DBC8E3-A8D9-4501-843A-504E6C94B2E6}" type="presParOf" srcId="{6BBBCE3B-E40E-4492-9330-FC3AC08340FC}" destId="{82AE031A-DDE7-450A-8D6D-630A71B97AEE}" srcOrd="7" destOrd="0" presId="urn:microsoft.com/office/officeart/2008/layout/LinedList"/>
    <dgm:cxn modelId="{0DA426FD-0035-4AC1-BB2F-95F75F0743EF}" type="presParOf" srcId="{82AE031A-DDE7-450A-8D6D-630A71B97AEE}" destId="{DDF31E1B-4B35-496A-95A6-C15C3728274A}" srcOrd="0" destOrd="0" presId="urn:microsoft.com/office/officeart/2008/layout/LinedList"/>
    <dgm:cxn modelId="{939A5EB6-EC5F-47ED-BE14-E7A6CE196726}" type="presParOf" srcId="{82AE031A-DDE7-450A-8D6D-630A71B97AEE}" destId="{9AA7971E-9BC6-4BD4-9C08-905FDEA6ADE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363C61-35FE-4DF4-86E6-77278B2F10AA}">
      <dsp:nvSpPr>
        <dsp:cNvPr id="0" name=""/>
        <dsp:cNvSpPr/>
      </dsp:nvSpPr>
      <dsp:spPr>
        <a:xfrm>
          <a:off x="0" y="0"/>
          <a:ext cx="78463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CB7773-883C-4049-A5F2-26282A7F6D72}">
      <dsp:nvSpPr>
        <dsp:cNvPr id="0" name=""/>
        <dsp:cNvSpPr/>
      </dsp:nvSpPr>
      <dsp:spPr>
        <a:xfrm>
          <a:off x="0" y="0"/>
          <a:ext cx="7846356" cy="557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Epoch	Training Loss	Validation Loss	Accuracy	F1</a:t>
          </a:r>
        </a:p>
      </dsp:txBody>
      <dsp:txXfrm>
        <a:off x="0" y="0"/>
        <a:ext cx="7846356" cy="557812"/>
      </dsp:txXfrm>
    </dsp:sp>
    <dsp:sp modelId="{76152827-D927-42A1-8F77-8B710E797D67}">
      <dsp:nvSpPr>
        <dsp:cNvPr id="0" name=""/>
        <dsp:cNvSpPr/>
      </dsp:nvSpPr>
      <dsp:spPr>
        <a:xfrm>
          <a:off x="0" y="557812"/>
          <a:ext cx="78463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553FC5-402D-49C9-AA42-5F53D578AD02}">
      <dsp:nvSpPr>
        <dsp:cNvPr id="0" name=""/>
        <dsp:cNvSpPr/>
      </dsp:nvSpPr>
      <dsp:spPr>
        <a:xfrm>
          <a:off x="0" y="557812"/>
          <a:ext cx="7846356" cy="557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1	0.082500	0.072922	0.981602	0.981592</a:t>
          </a:r>
        </a:p>
      </dsp:txBody>
      <dsp:txXfrm>
        <a:off x="0" y="557812"/>
        <a:ext cx="7846356" cy="557812"/>
      </dsp:txXfrm>
    </dsp:sp>
    <dsp:sp modelId="{DF4E55E6-5F00-47F5-B0FD-2AC4D269AF81}">
      <dsp:nvSpPr>
        <dsp:cNvPr id="0" name=""/>
        <dsp:cNvSpPr/>
      </dsp:nvSpPr>
      <dsp:spPr>
        <a:xfrm>
          <a:off x="0" y="1115625"/>
          <a:ext cx="78463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E929E1-FDCF-4BF7-B108-45C7E484C41C}">
      <dsp:nvSpPr>
        <dsp:cNvPr id="0" name=""/>
        <dsp:cNvSpPr/>
      </dsp:nvSpPr>
      <dsp:spPr>
        <a:xfrm>
          <a:off x="0" y="1115625"/>
          <a:ext cx="7846356" cy="557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2	0.026600	0.039157	0.989170	0.989162</a:t>
          </a:r>
        </a:p>
      </dsp:txBody>
      <dsp:txXfrm>
        <a:off x="0" y="1115625"/>
        <a:ext cx="7846356" cy="557812"/>
      </dsp:txXfrm>
    </dsp:sp>
    <dsp:sp modelId="{5173292D-C96F-4498-A6E2-80A4E7AD3335}">
      <dsp:nvSpPr>
        <dsp:cNvPr id="0" name=""/>
        <dsp:cNvSpPr/>
      </dsp:nvSpPr>
      <dsp:spPr>
        <a:xfrm>
          <a:off x="0" y="1673438"/>
          <a:ext cx="7846356"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46B6DD-ABA7-4073-83AE-9C8D06C6F677}">
      <dsp:nvSpPr>
        <dsp:cNvPr id="0" name=""/>
        <dsp:cNvSpPr/>
      </dsp:nvSpPr>
      <dsp:spPr>
        <a:xfrm>
          <a:off x="0" y="1673438"/>
          <a:ext cx="7846356" cy="557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3	0.008700	0.031669	0.994259	0.994253</a:t>
          </a:r>
        </a:p>
      </dsp:txBody>
      <dsp:txXfrm>
        <a:off x="0" y="1673438"/>
        <a:ext cx="7846356" cy="5578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97E945-533E-45E6-B860-D418CFF23441}">
      <dsp:nvSpPr>
        <dsp:cNvPr id="0" name=""/>
        <dsp:cNvSpPr/>
      </dsp:nvSpPr>
      <dsp:spPr>
        <a:xfrm>
          <a:off x="0" y="0"/>
          <a:ext cx="770146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DC715E-68C4-4870-838E-11147D79849A}">
      <dsp:nvSpPr>
        <dsp:cNvPr id="0" name=""/>
        <dsp:cNvSpPr/>
      </dsp:nvSpPr>
      <dsp:spPr>
        <a:xfrm>
          <a:off x="0" y="0"/>
          <a:ext cx="7701467" cy="580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Epoch	Training Loss	Validation Loss	Accuracy	F1</a:t>
          </a:r>
        </a:p>
      </dsp:txBody>
      <dsp:txXfrm>
        <a:off x="0" y="0"/>
        <a:ext cx="7701467" cy="580271"/>
      </dsp:txXfrm>
    </dsp:sp>
    <dsp:sp modelId="{3A42A15E-852E-4CC2-9E0B-02408EFE7BFA}">
      <dsp:nvSpPr>
        <dsp:cNvPr id="0" name=""/>
        <dsp:cNvSpPr/>
      </dsp:nvSpPr>
      <dsp:spPr>
        <a:xfrm>
          <a:off x="0" y="580271"/>
          <a:ext cx="770146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2E47AF-1BFB-4A3E-A3E8-A06277D8AE6E}">
      <dsp:nvSpPr>
        <dsp:cNvPr id="0" name=""/>
        <dsp:cNvSpPr/>
      </dsp:nvSpPr>
      <dsp:spPr>
        <a:xfrm>
          <a:off x="0" y="580271"/>
          <a:ext cx="7701467" cy="580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1	0.028400	0.024880	0.994128	0.994121</a:t>
          </a:r>
        </a:p>
      </dsp:txBody>
      <dsp:txXfrm>
        <a:off x="0" y="580271"/>
        <a:ext cx="7701467" cy="580271"/>
      </dsp:txXfrm>
    </dsp:sp>
    <dsp:sp modelId="{AEF5DD8D-4FBF-4287-8794-583EDD6B5307}">
      <dsp:nvSpPr>
        <dsp:cNvPr id="0" name=""/>
        <dsp:cNvSpPr/>
      </dsp:nvSpPr>
      <dsp:spPr>
        <a:xfrm>
          <a:off x="0" y="1160542"/>
          <a:ext cx="770146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AE1010-CCB0-4F37-939E-D0137C85BA15}">
      <dsp:nvSpPr>
        <dsp:cNvPr id="0" name=""/>
        <dsp:cNvSpPr/>
      </dsp:nvSpPr>
      <dsp:spPr>
        <a:xfrm>
          <a:off x="0" y="1160542"/>
          <a:ext cx="7701467" cy="580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2	0.013100	0.025017	0.993998	0.993995</a:t>
          </a:r>
        </a:p>
      </dsp:txBody>
      <dsp:txXfrm>
        <a:off x="0" y="1160542"/>
        <a:ext cx="7701467" cy="580271"/>
      </dsp:txXfrm>
    </dsp:sp>
    <dsp:sp modelId="{753B2AEC-FE69-4E36-9441-005559B61CD8}">
      <dsp:nvSpPr>
        <dsp:cNvPr id="0" name=""/>
        <dsp:cNvSpPr/>
      </dsp:nvSpPr>
      <dsp:spPr>
        <a:xfrm>
          <a:off x="0" y="1740813"/>
          <a:ext cx="7701467"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F31E1B-4B35-496A-95A6-C15C3728274A}">
      <dsp:nvSpPr>
        <dsp:cNvPr id="0" name=""/>
        <dsp:cNvSpPr/>
      </dsp:nvSpPr>
      <dsp:spPr>
        <a:xfrm>
          <a:off x="0" y="1740813"/>
          <a:ext cx="7701467" cy="580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3	0.007500	0.027508	0.994911	0.994907</a:t>
          </a:r>
        </a:p>
      </dsp:txBody>
      <dsp:txXfrm>
        <a:off x="0" y="1740813"/>
        <a:ext cx="7701467" cy="58027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F9B9BAB-659C-42FA-8187-ABDEFDC71178}" type="datetimeFigureOut">
              <a:rPr lang="ar-SA" smtClean="0"/>
              <a:t>16/10/46</a:t>
            </a:fld>
            <a:endParaRPr lang="ar-SA"/>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41B54949-4F32-4ECC-8C51-D16BC44F2308}" type="slidenum">
              <a:rPr lang="ar-SA" smtClean="0"/>
              <a:t>‹#›</a:t>
            </a:fld>
            <a:endParaRPr lang="ar-SA"/>
          </a:p>
        </p:txBody>
      </p:sp>
    </p:spTree>
    <p:extLst>
      <p:ext uri="{BB962C8B-B14F-4D97-AF65-F5344CB8AC3E}">
        <p14:creationId xmlns:p14="http://schemas.microsoft.com/office/powerpoint/2010/main" val="67806041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solidFill>
              </a:rPr>
              <a:t>After I did the Map Star Ratings to Sentiment Classes I saw that the data is imbalanced, so I balanced the data using over sampling </a:t>
            </a:r>
            <a:endParaRPr lang="ar-SA" sz="1200" dirty="0">
              <a:solidFill>
                <a:schemeClr val="tx2"/>
              </a:solidFill>
            </a:endParaRPr>
          </a:p>
          <a:p>
            <a:pPr algn="l" rtl="0"/>
            <a:endParaRPr lang="ar-SA" dirty="0"/>
          </a:p>
        </p:txBody>
      </p:sp>
      <p:sp>
        <p:nvSpPr>
          <p:cNvPr id="4" name="عنصر نائب لرقم الشريحة 3"/>
          <p:cNvSpPr>
            <a:spLocks noGrp="1"/>
          </p:cNvSpPr>
          <p:nvPr>
            <p:ph type="sldNum" sz="quarter" idx="5"/>
          </p:nvPr>
        </p:nvSpPr>
        <p:spPr/>
        <p:txBody>
          <a:bodyPr/>
          <a:lstStyle/>
          <a:p>
            <a:fld id="{41B54949-4F32-4ECC-8C51-D16BC44F2308}" type="slidenum">
              <a:rPr lang="ar-SA" smtClean="0"/>
              <a:t>5</a:t>
            </a:fld>
            <a:endParaRPr lang="ar-SA"/>
          </a:p>
        </p:txBody>
      </p:sp>
    </p:spTree>
    <p:extLst>
      <p:ext uri="{BB962C8B-B14F-4D97-AF65-F5344CB8AC3E}">
        <p14:creationId xmlns:p14="http://schemas.microsoft.com/office/powerpoint/2010/main" val="1650440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buNone/>
            </a:pPr>
            <a:r>
              <a:rPr lang="en-US" dirty="0"/>
              <a:t>I tried these three models and these are the results.</a:t>
            </a:r>
          </a:p>
          <a:p>
            <a:pPr algn="l" rtl="0">
              <a:buNone/>
            </a:pPr>
            <a:r>
              <a:rPr lang="en-US" dirty="0"/>
              <a:t>Final Conclusion:🔥 </a:t>
            </a:r>
            <a:r>
              <a:rPr lang="en-US" dirty="0" err="1"/>
              <a:t>DistilBERT</a:t>
            </a:r>
            <a:r>
              <a:rPr lang="en-US" dirty="0"/>
              <a:t> is the best overall in terms of the balance </a:t>
            </a:r>
            <a:r>
              <a:rPr lang="en-US" dirty="0" err="1"/>
              <a:t>between:Very</a:t>
            </a:r>
            <a:r>
              <a:rPr lang="en-US" dirty="0"/>
              <a:t> high accuracy, Training speed and Light weight (suitable for production or cloud deployment)🧠 BERT is suitable if we are looking for superior accuracy regardless of the time and resource cost.🤔 </a:t>
            </a:r>
            <a:r>
              <a:rPr lang="en-US" dirty="0" err="1"/>
              <a:t>DeBERT</a:t>
            </a:r>
            <a:r>
              <a:rPr lang="en-US" dirty="0"/>
              <a:t> was somewhat disappointing here, not outperforming either </a:t>
            </a:r>
            <a:r>
              <a:rPr lang="en-US" dirty="0" err="1"/>
              <a:t>DistilBERT</a:t>
            </a:r>
            <a:r>
              <a:rPr lang="en-US" dirty="0"/>
              <a:t> or BERT on this particular task.</a:t>
            </a:r>
          </a:p>
          <a:p>
            <a:pPr algn="l" rtl="0">
              <a:buNone/>
            </a:pPr>
            <a:r>
              <a:rPr lang="en-US" dirty="0"/>
              <a:t>So I chose </a:t>
            </a:r>
            <a:r>
              <a:rPr lang="en-US" dirty="0" err="1"/>
              <a:t>DistilBERT</a:t>
            </a:r>
            <a:r>
              <a:rPr lang="en-US" dirty="0"/>
              <a:t> model as the best model.</a:t>
            </a:r>
            <a:endParaRPr lang="ar-SA" dirty="0"/>
          </a:p>
        </p:txBody>
      </p:sp>
      <p:sp>
        <p:nvSpPr>
          <p:cNvPr id="4" name="عنصر نائب لرقم الشريحة 3"/>
          <p:cNvSpPr>
            <a:spLocks noGrp="1"/>
          </p:cNvSpPr>
          <p:nvPr>
            <p:ph type="sldNum" sz="quarter" idx="5"/>
          </p:nvPr>
        </p:nvSpPr>
        <p:spPr/>
        <p:txBody>
          <a:bodyPr/>
          <a:lstStyle/>
          <a:p>
            <a:fld id="{41B54949-4F32-4ECC-8C51-D16BC44F2308}" type="slidenum">
              <a:rPr lang="ar-SA" smtClean="0"/>
              <a:t>7</a:t>
            </a:fld>
            <a:endParaRPr lang="ar-SA"/>
          </a:p>
        </p:txBody>
      </p:sp>
    </p:spTree>
    <p:extLst>
      <p:ext uri="{BB962C8B-B14F-4D97-AF65-F5344CB8AC3E}">
        <p14:creationId xmlns:p14="http://schemas.microsoft.com/office/powerpoint/2010/main" val="2529334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r>
              <a:rPr lang="en-US" dirty="0"/>
              <a:t>The sentiment classification model based on </a:t>
            </a:r>
            <a:r>
              <a:rPr lang="en-US" dirty="0" err="1"/>
              <a:t>DistilBERT</a:t>
            </a:r>
            <a:r>
              <a:rPr lang="en-US" dirty="0"/>
              <a:t> achieved outstanding performance with a 99% overall accuracy. Both precision and recall scores exceeded 98% across all three sentiment categories, indicating highly reliable predictions.</a:t>
            </a:r>
            <a:endParaRPr lang="ar-SA" dirty="0"/>
          </a:p>
        </p:txBody>
      </p:sp>
      <p:sp>
        <p:nvSpPr>
          <p:cNvPr id="4" name="عنصر نائب لرقم الشريحة 3"/>
          <p:cNvSpPr>
            <a:spLocks noGrp="1"/>
          </p:cNvSpPr>
          <p:nvPr>
            <p:ph type="sldNum" sz="quarter" idx="5"/>
          </p:nvPr>
        </p:nvSpPr>
        <p:spPr/>
        <p:txBody>
          <a:bodyPr/>
          <a:lstStyle/>
          <a:p>
            <a:fld id="{41B54949-4F32-4ECC-8C51-D16BC44F2308}" type="slidenum">
              <a:rPr lang="ar-SA" smtClean="0"/>
              <a:t>9</a:t>
            </a:fld>
            <a:endParaRPr lang="ar-SA"/>
          </a:p>
        </p:txBody>
      </p:sp>
    </p:spTree>
    <p:extLst>
      <p:ext uri="{BB962C8B-B14F-4D97-AF65-F5344CB8AC3E}">
        <p14:creationId xmlns:p14="http://schemas.microsoft.com/office/powerpoint/2010/main" val="1502394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r>
              <a:rPr lang="en-US" dirty="0"/>
              <a:t>Most predictions were accurate, with very few errors. The most errors occurred between positive and neutral reviews. This makes sense because the difference between positive and neutral reviews can be subtle.</a:t>
            </a:r>
            <a:endParaRPr lang="ar-SA" dirty="0"/>
          </a:p>
        </p:txBody>
      </p:sp>
      <p:sp>
        <p:nvSpPr>
          <p:cNvPr id="4" name="عنصر نائب لرقم الشريحة 3"/>
          <p:cNvSpPr>
            <a:spLocks noGrp="1"/>
          </p:cNvSpPr>
          <p:nvPr>
            <p:ph type="sldNum" sz="quarter" idx="5"/>
          </p:nvPr>
        </p:nvSpPr>
        <p:spPr/>
        <p:txBody>
          <a:bodyPr/>
          <a:lstStyle/>
          <a:p>
            <a:fld id="{41B54949-4F32-4ECC-8C51-D16BC44F2308}" type="slidenum">
              <a:rPr lang="ar-SA" smtClean="0"/>
              <a:t>10</a:t>
            </a:fld>
            <a:endParaRPr lang="ar-SA"/>
          </a:p>
        </p:txBody>
      </p:sp>
    </p:spTree>
    <p:extLst>
      <p:ext uri="{BB962C8B-B14F-4D97-AF65-F5344CB8AC3E}">
        <p14:creationId xmlns:p14="http://schemas.microsoft.com/office/powerpoint/2010/main" val="3951996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04A52-0283-3F63-F80C-E50A1C2A0C59}"/>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525E5482-4D21-375D-B638-E95B034AD520}"/>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76084215-A563-D071-8D9F-256E38BE217D}"/>
              </a:ext>
            </a:extLst>
          </p:cNvPr>
          <p:cNvSpPr>
            <a:spLocks noGrp="1"/>
          </p:cNvSpPr>
          <p:nvPr>
            <p:ph type="body" idx="1"/>
          </p:nvPr>
        </p:nvSpPr>
        <p:spPr/>
        <p:txBody>
          <a:bodyPr/>
          <a:lstStyle/>
          <a:p>
            <a:pPr algn="l" rtl="0">
              <a:buNone/>
            </a:pPr>
            <a:r>
              <a:rPr lang="en-US" dirty="0"/>
              <a:t>The BERT-based sentiment classification model also performed exceptionally well, achieving 99% overall accuracy. Precision, recall, and F1-scores for all sentiment categories were consistently high, confirming the model's robustness and reliability for sentiment analysis tasks.</a:t>
            </a:r>
          </a:p>
          <a:p>
            <a:pPr algn="l" rtl="0"/>
            <a:r>
              <a:rPr lang="en-US" dirty="0"/>
              <a:t>4o</a:t>
            </a:r>
          </a:p>
        </p:txBody>
      </p:sp>
      <p:sp>
        <p:nvSpPr>
          <p:cNvPr id="4" name="عنصر نائب لرقم الشريحة 3">
            <a:extLst>
              <a:ext uri="{FF2B5EF4-FFF2-40B4-BE49-F238E27FC236}">
                <a16:creationId xmlns:a16="http://schemas.microsoft.com/office/drawing/2014/main" id="{6E5CFFAE-2EB9-0F80-23D2-5D30BB673493}"/>
              </a:ext>
            </a:extLst>
          </p:cNvPr>
          <p:cNvSpPr>
            <a:spLocks noGrp="1"/>
          </p:cNvSpPr>
          <p:nvPr>
            <p:ph type="sldNum" sz="quarter" idx="5"/>
          </p:nvPr>
        </p:nvSpPr>
        <p:spPr/>
        <p:txBody>
          <a:bodyPr/>
          <a:lstStyle/>
          <a:p>
            <a:fld id="{41B54949-4F32-4ECC-8C51-D16BC44F2308}" type="slidenum">
              <a:rPr lang="ar-SA" smtClean="0"/>
              <a:t>13</a:t>
            </a:fld>
            <a:endParaRPr lang="ar-SA"/>
          </a:p>
        </p:txBody>
      </p:sp>
    </p:spTree>
    <p:extLst>
      <p:ext uri="{BB962C8B-B14F-4D97-AF65-F5344CB8AC3E}">
        <p14:creationId xmlns:p14="http://schemas.microsoft.com/office/powerpoint/2010/main" val="906563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r>
              <a:rPr lang="en-US" dirty="0"/>
              <a:t>Accuracy is still very high, and errors are mostly between POSITIVE and NEUTRAL, which is expected given the closeness of texts in these categories.</a:t>
            </a:r>
            <a:endParaRPr lang="ar-SA" dirty="0"/>
          </a:p>
        </p:txBody>
      </p:sp>
      <p:sp>
        <p:nvSpPr>
          <p:cNvPr id="4" name="عنصر نائب لرقم الشريحة 3"/>
          <p:cNvSpPr>
            <a:spLocks noGrp="1"/>
          </p:cNvSpPr>
          <p:nvPr>
            <p:ph type="sldNum" sz="quarter" idx="5"/>
          </p:nvPr>
        </p:nvSpPr>
        <p:spPr/>
        <p:txBody>
          <a:bodyPr/>
          <a:lstStyle/>
          <a:p>
            <a:fld id="{41B54949-4F32-4ECC-8C51-D16BC44F2308}" type="slidenum">
              <a:rPr lang="ar-SA" smtClean="0"/>
              <a:t>14</a:t>
            </a:fld>
            <a:endParaRPr lang="ar-SA"/>
          </a:p>
        </p:txBody>
      </p:sp>
    </p:spTree>
    <p:extLst>
      <p:ext uri="{BB962C8B-B14F-4D97-AF65-F5344CB8AC3E}">
        <p14:creationId xmlns:p14="http://schemas.microsoft.com/office/powerpoint/2010/main" val="668723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FAAD6-21CF-9BA3-DA45-7DBC63FAEBBB}"/>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1586918F-F6DB-051B-3FB6-61F628339AFB}"/>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DF5CE1B5-665E-2460-C089-4F6A17AE4668}"/>
              </a:ext>
            </a:extLst>
          </p:cNvPr>
          <p:cNvSpPr>
            <a:spLocks noGrp="1"/>
          </p:cNvSpPr>
          <p:nvPr>
            <p:ph type="body" idx="1"/>
          </p:nvPr>
        </p:nvSpPr>
        <p:spPr/>
        <p:txBody>
          <a:bodyPr/>
          <a:lstStyle/>
          <a:p>
            <a:pPr algn="l" rtl="0">
              <a:buNone/>
            </a:pPr>
            <a:r>
              <a:rPr lang="en-US" dirty="0"/>
              <a:t>The </a:t>
            </a:r>
            <a:r>
              <a:rPr lang="en-US" dirty="0" err="1"/>
              <a:t>DeBERTa</a:t>
            </a:r>
            <a:r>
              <a:rPr lang="en-US" dirty="0"/>
              <a:t> model achieved strong performance with an overall accuracy of 96%. While it slightly underperformed compared to BERT and </a:t>
            </a:r>
            <a:r>
              <a:rPr lang="en-US" dirty="0" err="1"/>
              <a:t>DistilBERT</a:t>
            </a:r>
            <a:r>
              <a:rPr lang="en-US" dirty="0"/>
              <a:t>, especially in recall for the neutral category, it still maintained high precision and balanced F1-scores across all classes.</a:t>
            </a:r>
          </a:p>
          <a:p>
            <a:pPr algn="l" rtl="0"/>
            <a:r>
              <a:rPr lang="en-US" dirty="0"/>
              <a:t>4o</a:t>
            </a:r>
          </a:p>
        </p:txBody>
      </p:sp>
      <p:sp>
        <p:nvSpPr>
          <p:cNvPr id="4" name="عنصر نائب لرقم الشريحة 3">
            <a:extLst>
              <a:ext uri="{FF2B5EF4-FFF2-40B4-BE49-F238E27FC236}">
                <a16:creationId xmlns:a16="http://schemas.microsoft.com/office/drawing/2014/main" id="{33CCBC7D-BB8A-0E53-64D0-2D3EEB43FB9F}"/>
              </a:ext>
            </a:extLst>
          </p:cNvPr>
          <p:cNvSpPr>
            <a:spLocks noGrp="1"/>
          </p:cNvSpPr>
          <p:nvPr>
            <p:ph type="sldNum" sz="quarter" idx="5"/>
          </p:nvPr>
        </p:nvSpPr>
        <p:spPr/>
        <p:txBody>
          <a:bodyPr/>
          <a:lstStyle/>
          <a:p>
            <a:fld id="{41B54949-4F32-4ECC-8C51-D16BC44F2308}" type="slidenum">
              <a:rPr lang="ar-SA" smtClean="0"/>
              <a:t>16</a:t>
            </a:fld>
            <a:endParaRPr lang="ar-SA"/>
          </a:p>
        </p:txBody>
      </p:sp>
    </p:spTree>
    <p:extLst>
      <p:ext uri="{BB962C8B-B14F-4D97-AF65-F5344CB8AC3E}">
        <p14:creationId xmlns:p14="http://schemas.microsoft.com/office/powerpoint/2010/main" val="3952766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1E982-A2A2-2278-16DA-A84A9461D415}"/>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091F2E8B-4DC6-D0A2-2FB1-F02B4542F28D}"/>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E08F5FAE-4C1E-F749-B912-7015DAF27084}"/>
              </a:ext>
            </a:extLst>
          </p:cNvPr>
          <p:cNvSpPr>
            <a:spLocks noGrp="1"/>
          </p:cNvSpPr>
          <p:nvPr>
            <p:ph type="body" idx="1"/>
          </p:nvPr>
        </p:nvSpPr>
        <p:spPr/>
        <p:txBody>
          <a:bodyPr/>
          <a:lstStyle/>
          <a:p>
            <a:pPr algn="l" rtl="0"/>
            <a:r>
              <a:rPr lang="en-US" dirty="0"/>
              <a:t>Confusion Matrix Analysis (</a:t>
            </a:r>
            <a:r>
              <a:rPr lang="en-US" dirty="0" err="1"/>
              <a:t>DeBERT</a:t>
            </a:r>
            <a:r>
              <a:rPr lang="en-US" dirty="0"/>
              <a:t>):The greatest degree of confusion occurred between POSITIVE → NEUTRAL (339 cases).A significant decrease in correct predictions for the POSITIVE class was evident compared to BERT and </a:t>
            </a:r>
            <a:r>
              <a:rPr lang="en-US" dirty="0" err="1"/>
              <a:t>DistilBERT</a:t>
            </a:r>
            <a:r>
              <a:rPr lang="en-US" dirty="0"/>
              <a:t>.</a:t>
            </a:r>
            <a:endParaRPr lang="ar-SA" dirty="0"/>
          </a:p>
        </p:txBody>
      </p:sp>
      <p:sp>
        <p:nvSpPr>
          <p:cNvPr id="4" name="عنصر نائب لرقم الشريحة 3">
            <a:extLst>
              <a:ext uri="{FF2B5EF4-FFF2-40B4-BE49-F238E27FC236}">
                <a16:creationId xmlns:a16="http://schemas.microsoft.com/office/drawing/2014/main" id="{48B131AE-0525-FDC5-AD16-989D55AE3357}"/>
              </a:ext>
            </a:extLst>
          </p:cNvPr>
          <p:cNvSpPr>
            <a:spLocks noGrp="1"/>
          </p:cNvSpPr>
          <p:nvPr>
            <p:ph type="sldNum" sz="quarter" idx="5"/>
          </p:nvPr>
        </p:nvSpPr>
        <p:spPr/>
        <p:txBody>
          <a:bodyPr/>
          <a:lstStyle/>
          <a:p>
            <a:fld id="{41B54949-4F32-4ECC-8C51-D16BC44F2308}" type="slidenum">
              <a:rPr lang="ar-SA" smtClean="0"/>
              <a:t>17</a:t>
            </a:fld>
            <a:endParaRPr lang="ar-SA"/>
          </a:p>
        </p:txBody>
      </p:sp>
    </p:spTree>
    <p:extLst>
      <p:ext uri="{BB962C8B-B14F-4D97-AF65-F5344CB8AC3E}">
        <p14:creationId xmlns:p14="http://schemas.microsoft.com/office/powerpoint/2010/main" val="138070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endParaRPr lang="ar-SA" dirty="0"/>
          </a:p>
        </p:txBody>
      </p:sp>
      <p:sp>
        <p:nvSpPr>
          <p:cNvPr id="4" name="عنصر نائب لرقم الشريحة 3"/>
          <p:cNvSpPr>
            <a:spLocks noGrp="1"/>
          </p:cNvSpPr>
          <p:nvPr>
            <p:ph type="sldNum" sz="quarter" idx="5"/>
          </p:nvPr>
        </p:nvSpPr>
        <p:spPr/>
        <p:txBody>
          <a:bodyPr/>
          <a:lstStyle/>
          <a:p>
            <a:fld id="{41B54949-4F32-4ECC-8C51-D16BC44F2308}" type="slidenum">
              <a:rPr lang="ar-SA" smtClean="0"/>
              <a:t>19</a:t>
            </a:fld>
            <a:endParaRPr lang="ar-SA"/>
          </a:p>
        </p:txBody>
      </p:sp>
    </p:spTree>
    <p:extLst>
      <p:ext uri="{BB962C8B-B14F-4D97-AF65-F5344CB8AC3E}">
        <p14:creationId xmlns:p14="http://schemas.microsoft.com/office/powerpoint/2010/main" val="30961150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endParaRPr lang="ar-SA" dirty="0"/>
          </a:p>
        </p:txBody>
      </p:sp>
      <p:sp>
        <p:nvSpPr>
          <p:cNvPr id="4" name="عنصر نائب لرقم الشريحة 3"/>
          <p:cNvSpPr>
            <a:spLocks noGrp="1"/>
          </p:cNvSpPr>
          <p:nvPr>
            <p:ph type="sldNum" sz="quarter" idx="5"/>
          </p:nvPr>
        </p:nvSpPr>
        <p:spPr/>
        <p:txBody>
          <a:bodyPr/>
          <a:lstStyle/>
          <a:p>
            <a:fld id="{41B54949-4F32-4ECC-8C51-D16BC44F2308}" type="slidenum">
              <a:rPr lang="ar-SA" smtClean="0"/>
              <a:t>24</a:t>
            </a:fld>
            <a:endParaRPr lang="ar-SA"/>
          </a:p>
        </p:txBody>
      </p:sp>
    </p:spTree>
    <p:extLst>
      <p:ext uri="{BB962C8B-B14F-4D97-AF65-F5344CB8AC3E}">
        <p14:creationId xmlns:p14="http://schemas.microsoft.com/office/powerpoint/2010/main" val="3935545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59662E4-FDE5-9874-6556-4CADEC006F8E}"/>
              </a:ext>
            </a:extLst>
          </p:cNvPr>
          <p:cNvSpPr>
            <a:spLocks noGrp="1"/>
          </p:cNvSpPr>
          <p:nvPr>
            <p:ph type="ctrTitle"/>
          </p:nvPr>
        </p:nvSpPr>
        <p:spPr>
          <a:xfrm>
            <a:off x="1524000" y="1122363"/>
            <a:ext cx="9144000" cy="2387600"/>
          </a:xfrm>
        </p:spPr>
        <p:txBody>
          <a:bodyPr anchor="b"/>
          <a:lstStyle>
            <a:lvl1pPr algn="ctr" rtl="0">
              <a:defRPr sz="6000">
                <a:latin typeface="Courier New" panose="02070309020205020404" pitchFamily="49" charset="0"/>
                <a:cs typeface="Courier New" panose="02070309020205020404" pitchFamily="49" charset="0"/>
              </a:defRPr>
            </a:lvl1pPr>
          </a:lstStyle>
          <a:p>
            <a:r>
              <a:rPr lang="ar-SA" dirty="0"/>
              <a:t>انقر لتحرير نمط عنوان الشكل الرئيسي</a:t>
            </a:r>
          </a:p>
        </p:txBody>
      </p:sp>
      <p:sp>
        <p:nvSpPr>
          <p:cNvPr id="3" name="عنوان فرعي 2">
            <a:extLst>
              <a:ext uri="{FF2B5EF4-FFF2-40B4-BE49-F238E27FC236}">
                <a16:creationId xmlns:a16="http://schemas.microsoft.com/office/drawing/2014/main" id="{172E946F-47F0-582F-0C58-A804536CD7EA}"/>
              </a:ext>
            </a:extLst>
          </p:cNvPr>
          <p:cNvSpPr>
            <a:spLocks noGrp="1"/>
          </p:cNvSpPr>
          <p:nvPr>
            <p:ph type="subTitle" idx="1"/>
          </p:nvPr>
        </p:nvSpPr>
        <p:spPr>
          <a:xfrm>
            <a:off x="1524000" y="3602038"/>
            <a:ext cx="9144000" cy="1655762"/>
          </a:xfrm>
        </p:spPr>
        <p:txBody>
          <a:bodyPr/>
          <a:lstStyle>
            <a:lvl1pPr marL="0" indent="0" algn="ctr" rtl="0">
              <a:buNone/>
              <a:defRPr sz="2400">
                <a:latin typeface="Courier New" panose="02070309020205020404" pitchFamily="49" charset="0"/>
                <a:cs typeface="Courier New" panose="020703090202050204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4C12309A-C90D-1C2A-96B9-DA7B873D39A8}"/>
              </a:ext>
            </a:extLst>
          </p:cNvPr>
          <p:cNvSpPr>
            <a:spLocks noGrp="1"/>
          </p:cNvSpPr>
          <p:nvPr>
            <p:ph type="dt" sz="half" idx="10"/>
          </p:nvPr>
        </p:nvSpPr>
        <p:spPr/>
        <p:txBody>
          <a:bodyPr/>
          <a:lstStyle/>
          <a:p>
            <a:fld id="{44901DAA-6A42-4F91-8A46-0A5C62319777}" type="datetimeFigureOut">
              <a:rPr lang="ar-SA" smtClean="0"/>
              <a:t>16/10/46</a:t>
            </a:fld>
            <a:endParaRPr lang="ar-SA"/>
          </a:p>
        </p:txBody>
      </p:sp>
      <p:sp>
        <p:nvSpPr>
          <p:cNvPr id="5" name="عنصر نائب للتذييل 4">
            <a:extLst>
              <a:ext uri="{FF2B5EF4-FFF2-40B4-BE49-F238E27FC236}">
                <a16:creationId xmlns:a16="http://schemas.microsoft.com/office/drawing/2014/main" id="{D008B273-2A8B-75DF-65B3-22C75A9873A3}"/>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17367167-778B-DE36-6BE2-EA7D692A382B}"/>
              </a:ext>
            </a:extLst>
          </p:cNvPr>
          <p:cNvSpPr>
            <a:spLocks noGrp="1"/>
          </p:cNvSpPr>
          <p:nvPr>
            <p:ph type="sldNum" sz="quarter" idx="12"/>
          </p:nvPr>
        </p:nvSpPr>
        <p:spPr/>
        <p:txBody>
          <a:bodyPr/>
          <a:lstStyle/>
          <a:p>
            <a:fld id="{3D09A206-A4CC-4BA5-95E0-B247DB894208}" type="slidenum">
              <a:rPr lang="ar-SA" smtClean="0"/>
              <a:t>‹#›</a:t>
            </a:fld>
            <a:endParaRPr lang="ar-SA"/>
          </a:p>
        </p:txBody>
      </p:sp>
    </p:spTree>
    <p:extLst>
      <p:ext uri="{BB962C8B-B14F-4D97-AF65-F5344CB8AC3E}">
        <p14:creationId xmlns:p14="http://schemas.microsoft.com/office/powerpoint/2010/main" val="3744881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6EA8B17-D4D8-CFB7-AFB9-003115940083}"/>
              </a:ext>
            </a:extLst>
          </p:cNvPr>
          <p:cNvSpPr>
            <a:spLocks noGrp="1"/>
          </p:cNvSpPr>
          <p:nvPr>
            <p:ph type="title"/>
          </p:nvPr>
        </p:nvSpPr>
        <p:spPr/>
        <p:txBody>
          <a:bodyPr/>
          <a:lstStyle>
            <a:lvl1pPr algn="l" rtl="0">
              <a:defRPr>
                <a:latin typeface="Courier New" panose="02070309020205020404" pitchFamily="49" charset="0"/>
                <a:cs typeface="Courier New" panose="02070309020205020404" pitchFamily="49" charset="0"/>
              </a:defRPr>
            </a:lvl1pPr>
          </a:lstStyle>
          <a:p>
            <a:r>
              <a:rPr lang="ar-SA" dirty="0"/>
              <a:t>انقر لتحرير نمط عنوان الشكل الرئيسي</a:t>
            </a:r>
          </a:p>
        </p:txBody>
      </p:sp>
      <p:sp>
        <p:nvSpPr>
          <p:cNvPr id="3" name="عنصر نائب للمحتوى 2">
            <a:extLst>
              <a:ext uri="{FF2B5EF4-FFF2-40B4-BE49-F238E27FC236}">
                <a16:creationId xmlns:a16="http://schemas.microsoft.com/office/drawing/2014/main" id="{B9415E01-BF65-0E91-D161-D54B6F6D2B00}"/>
              </a:ext>
            </a:extLst>
          </p:cNvPr>
          <p:cNvSpPr>
            <a:spLocks noGrp="1"/>
          </p:cNvSpPr>
          <p:nvPr>
            <p:ph idx="1"/>
          </p:nvPr>
        </p:nvSpPr>
        <p:spPr/>
        <p:txBody>
          <a:bodyPr/>
          <a:lstStyle>
            <a:lvl1pPr algn="l" rtl="0">
              <a:defRPr>
                <a:latin typeface="Courier New" panose="02070309020205020404" pitchFamily="49" charset="0"/>
                <a:cs typeface="Courier New" panose="02070309020205020404" pitchFamily="49" charset="0"/>
              </a:defRPr>
            </a:lvl1pPr>
            <a:lvl2pPr algn="l" rtl="0">
              <a:defRPr>
                <a:latin typeface="Courier New" panose="02070309020205020404" pitchFamily="49" charset="0"/>
                <a:cs typeface="Courier New" panose="02070309020205020404" pitchFamily="49" charset="0"/>
              </a:defRPr>
            </a:lvl2pPr>
            <a:lvl3pPr algn="l" rtl="0">
              <a:defRPr>
                <a:latin typeface="Courier New" panose="02070309020205020404" pitchFamily="49" charset="0"/>
                <a:cs typeface="Courier New" panose="02070309020205020404" pitchFamily="49" charset="0"/>
              </a:defRPr>
            </a:lvl3pPr>
            <a:lvl4pPr algn="l" rtl="0">
              <a:defRPr>
                <a:latin typeface="Courier New" panose="02070309020205020404" pitchFamily="49" charset="0"/>
                <a:cs typeface="Courier New" panose="02070309020205020404" pitchFamily="49" charset="0"/>
              </a:defRPr>
            </a:lvl4pPr>
            <a:lvl5pPr algn="l" rtl="0">
              <a:defRPr>
                <a:latin typeface="Courier New" panose="02070309020205020404" pitchFamily="49" charset="0"/>
                <a:cs typeface="Courier New" panose="02070309020205020404" pitchFamily="49" charset="0"/>
              </a:defRPr>
            </a:lvl5pPr>
          </a:lstStyle>
          <a:p>
            <a:pPr lvl="0"/>
            <a:r>
              <a:rPr lang="ar-SA" dirty="0"/>
              <a:t>انقر لتحرير أنماط نص الشكل الرئيسي</a:t>
            </a:r>
          </a:p>
          <a:p>
            <a:pPr lvl="1"/>
            <a:r>
              <a:rPr lang="ar-SA" dirty="0"/>
              <a:t>المستوى الثاني</a:t>
            </a:r>
          </a:p>
          <a:p>
            <a:pPr lvl="2"/>
            <a:r>
              <a:rPr lang="ar-SA" dirty="0"/>
              <a:t>المستوى الثالث</a:t>
            </a:r>
          </a:p>
          <a:p>
            <a:pPr lvl="3"/>
            <a:r>
              <a:rPr lang="ar-SA" dirty="0"/>
              <a:t>المستوى الرابع</a:t>
            </a:r>
          </a:p>
          <a:p>
            <a:pPr lvl="4"/>
            <a:r>
              <a:rPr lang="ar-SA" dirty="0"/>
              <a:t>المستوى الخامس</a:t>
            </a:r>
          </a:p>
        </p:txBody>
      </p:sp>
      <p:sp>
        <p:nvSpPr>
          <p:cNvPr id="4" name="عنصر نائب للتاريخ 3">
            <a:extLst>
              <a:ext uri="{FF2B5EF4-FFF2-40B4-BE49-F238E27FC236}">
                <a16:creationId xmlns:a16="http://schemas.microsoft.com/office/drawing/2014/main" id="{62E027BE-AD67-9DF4-769E-A47FE252301B}"/>
              </a:ext>
            </a:extLst>
          </p:cNvPr>
          <p:cNvSpPr>
            <a:spLocks noGrp="1"/>
          </p:cNvSpPr>
          <p:nvPr>
            <p:ph type="dt" sz="half" idx="10"/>
          </p:nvPr>
        </p:nvSpPr>
        <p:spPr/>
        <p:txBody>
          <a:bodyPr/>
          <a:lstStyle/>
          <a:p>
            <a:fld id="{44901DAA-6A42-4F91-8A46-0A5C62319777}" type="datetimeFigureOut">
              <a:rPr lang="ar-SA" smtClean="0"/>
              <a:t>16/10/46</a:t>
            </a:fld>
            <a:endParaRPr lang="ar-SA"/>
          </a:p>
        </p:txBody>
      </p:sp>
      <p:sp>
        <p:nvSpPr>
          <p:cNvPr id="5" name="عنصر نائب للتذييل 4">
            <a:extLst>
              <a:ext uri="{FF2B5EF4-FFF2-40B4-BE49-F238E27FC236}">
                <a16:creationId xmlns:a16="http://schemas.microsoft.com/office/drawing/2014/main" id="{02E5E905-3FA8-8B79-1768-F34889F36041}"/>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D9E5643F-15EB-22C3-EF90-D2BB08CC32CD}"/>
              </a:ext>
            </a:extLst>
          </p:cNvPr>
          <p:cNvSpPr>
            <a:spLocks noGrp="1"/>
          </p:cNvSpPr>
          <p:nvPr>
            <p:ph type="sldNum" sz="quarter" idx="12"/>
          </p:nvPr>
        </p:nvSpPr>
        <p:spPr/>
        <p:txBody>
          <a:bodyPr/>
          <a:lstStyle/>
          <a:p>
            <a:fld id="{3D09A206-A4CC-4BA5-95E0-B247DB894208}" type="slidenum">
              <a:rPr lang="ar-SA" smtClean="0"/>
              <a:t>‹#›</a:t>
            </a:fld>
            <a:endParaRPr lang="ar-SA"/>
          </a:p>
        </p:txBody>
      </p:sp>
    </p:spTree>
    <p:extLst>
      <p:ext uri="{BB962C8B-B14F-4D97-AF65-F5344CB8AC3E}">
        <p14:creationId xmlns:p14="http://schemas.microsoft.com/office/powerpoint/2010/main" val="3891579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53D611D-3F2E-16EE-411D-A51D3DFF99AB}"/>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6EE94220-D4B8-FDFC-1926-7E0C9F515B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9B734015-AFCA-2E50-7384-7389DCE8D523}"/>
              </a:ext>
            </a:extLst>
          </p:cNvPr>
          <p:cNvSpPr>
            <a:spLocks noGrp="1"/>
          </p:cNvSpPr>
          <p:nvPr>
            <p:ph type="dt" sz="half" idx="10"/>
          </p:nvPr>
        </p:nvSpPr>
        <p:spPr/>
        <p:txBody>
          <a:bodyPr/>
          <a:lstStyle/>
          <a:p>
            <a:fld id="{44901DAA-6A42-4F91-8A46-0A5C62319777}" type="datetimeFigureOut">
              <a:rPr lang="ar-SA" smtClean="0"/>
              <a:t>16/10/46</a:t>
            </a:fld>
            <a:endParaRPr lang="ar-SA"/>
          </a:p>
        </p:txBody>
      </p:sp>
      <p:sp>
        <p:nvSpPr>
          <p:cNvPr id="5" name="عنصر نائب للتذييل 4">
            <a:extLst>
              <a:ext uri="{FF2B5EF4-FFF2-40B4-BE49-F238E27FC236}">
                <a16:creationId xmlns:a16="http://schemas.microsoft.com/office/drawing/2014/main" id="{7A6B1808-97E1-FACF-22E1-8094E8A81C35}"/>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C3CACD15-A606-C206-5F69-69AB00ADE475}"/>
              </a:ext>
            </a:extLst>
          </p:cNvPr>
          <p:cNvSpPr>
            <a:spLocks noGrp="1"/>
          </p:cNvSpPr>
          <p:nvPr>
            <p:ph type="sldNum" sz="quarter" idx="12"/>
          </p:nvPr>
        </p:nvSpPr>
        <p:spPr/>
        <p:txBody>
          <a:bodyPr/>
          <a:lstStyle/>
          <a:p>
            <a:fld id="{3D09A206-A4CC-4BA5-95E0-B247DB894208}" type="slidenum">
              <a:rPr lang="ar-SA" smtClean="0"/>
              <a:t>‹#›</a:t>
            </a:fld>
            <a:endParaRPr lang="ar-SA"/>
          </a:p>
        </p:txBody>
      </p:sp>
    </p:spTree>
    <p:extLst>
      <p:ext uri="{BB962C8B-B14F-4D97-AF65-F5344CB8AC3E}">
        <p14:creationId xmlns:p14="http://schemas.microsoft.com/office/powerpoint/2010/main" val="781752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1A1EB42-A0E7-396D-564B-D15A548463C1}"/>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CFB7A193-C786-CBC4-F91D-25C925A25F7C}"/>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2037D5F8-A2C6-591B-FDD5-8330E7CCBCAF}"/>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9F86E482-54A7-E471-6771-AC1CF3A237BD}"/>
              </a:ext>
            </a:extLst>
          </p:cNvPr>
          <p:cNvSpPr>
            <a:spLocks noGrp="1"/>
          </p:cNvSpPr>
          <p:nvPr>
            <p:ph type="dt" sz="half" idx="10"/>
          </p:nvPr>
        </p:nvSpPr>
        <p:spPr/>
        <p:txBody>
          <a:bodyPr/>
          <a:lstStyle/>
          <a:p>
            <a:fld id="{44901DAA-6A42-4F91-8A46-0A5C62319777}" type="datetimeFigureOut">
              <a:rPr lang="ar-SA" smtClean="0"/>
              <a:t>16/10/46</a:t>
            </a:fld>
            <a:endParaRPr lang="ar-SA"/>
          </a:p>
        </p:txBody>
      </p:sp>
      <p:sp>
        <p:nvSpPr>
          <p:cNvPr id="6" name="عنصر نائب للتذييل 5">
            <a:extLst>
              <a:ext uri="{FF2B5EF4-FFF2-40B4-BE49-F238E27FC236}">
                <a16:creationId xmlns:a16="http://schemas.microsoft.com/office/drawing/2014/main" id="{9ECB342B-884C-37ED-038A-1684390E576A}"/>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5A358363-8931-3247-20DF-20CFC46D9F15}"/>
              </a:ext>
            </a:extLst>
          </p:cNvPr>
          <p:cNvSpPr>
            <a:spLocks noGrp="1"/>
          </p:cNvSpPr>
          <p:nvPr>
            <p:ph type="sldNum" sz="quarter" idx="12"/>
          </p:nvPr>
        </p:nvSpPr>
        <p:spPr/>
        <p:txBody>
          <a:bodyPr/>
          <a:lstStyle/>
          <a:p>
            <a:fld id="{3D09A206-A4CC-4BA5-95E0-B247DB894208}" type="slidenum">
              <a:rPr lang="ar-SA" smtClean="0"/>
              <a:t>‹#›</a:t>
            </a:fld>
            <a:endParaRPr lang="ar-SA"/>
          </a:p>
        </p:txBody>
      </p:sp>
    </p:spTree>
    <p:extLst>
      <p:ext uri="{BB962C8B-B14F-4D97-AF65-F5344CB8AC3E}">
        <p14:creationId xmlns:p14="http://schemas.microsoft.com/office/powerpoint/2010/main" val="3865789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62E7F09-F08D-4F86-4EAB-85317E377798}"/>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F35152E8-6844-A6A9-C8B6-5427F657FC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E8F3C982-FB31-A01A-4A4C-BC17019EC750}"/>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099D4216-0086-768F-61D9-07E0CDB91C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BBA39076-330A-2666-B724-838EFA5297D4}"/>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9BEB889E-7CF6-5534-4F2F-2A1DC6AF54D8}"/>
              </a:ext>
            </a:extLst>
          </p:cNvPr>
          <p:cNvSpPr>
            <a:spLocks noGrp="1"/>
          </p:cNvSpPr>
          <p:nvPr>
            <p:ph type="dt" sz="half" idx="10"/>
          </p:nvPr>
        </p:nvSpPr>
        <p:spPr/>
        <p:txBody>
          <a:bodyPr/>
          <a:lstStyle/>
          <a:p>
            <a:fld id="{44901DAA-6A42-4F91-8A46-0A5C62319777}" type="datetimeFigureOut">
              <a:rPr lang="ar-SA" smtClean="0"/>
              <a:t>16/10/46</a:t>
            </a:fld>
            <a:endParaRPr lang="ar-SA"/>
          </a:p>
        </p:txBody>
      </p:sp>
      <p:sp>
        <p:nvSpPr>
          <p:cNvPr id="8" name="عنصر نائب للتذييل 7">
            <a:extLst>
              <a:ext uri="{FF2B5EF4-FFF2-40B4-BE49-F238E27FC236}">
                <a16:creationId xmlns:a16="http://schemas.microsoft.com/office/drawing/2014/main" id="{4305511F-A975-475D-7C7B-FAEA26DD08F4}"/>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8809D858-B912-1361-30E2-7B6EE5028C8B}"/>
              </a:ext>
            </a:extLst>
          </p:cNvPr>
          <p:cNvSpPr>
            <a:spLocks noGrp="1"/>
          </p:cNvSpPr>
          <p:nvPr>
            <p:ph type="sldNum" sz="quarter" idx="12"/>
          </p:nvPr>
        </p:nvSpPr>
        <p:spPr/>
        <p:txBody>
          <a:bodyPr/>
          <a:lstStyle/>
          <a:p>
            <a:fld id="{3D09A206-A4CC-4BA5-95E0-B247DB894208}" type="slidenum">
              <a:rPr lang="ar-SA" smtClean="0"/>
              <a:t>‹#›</a:t>
            </a:fld>
            <a:endParaRPr lang="ar-SA"/>
          </a:p>
        </p:txBody>
      </p:sp>
    </p:spTree>
    <p:extLst>
      <p:ext uri="{BB962C8B-B14F-4D97-AF65-F5344CB8AC3E}">
        <p14:creationId xmlns:p14="http://schemas.microsoft.com/office/powerpoint/2010/main" val="2086163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D1403BB-6CF0-5175-161F-2AC62BA97383}"/>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0F8AE4A8-75EE-5D7C-934F-53F43861E08C}"/>
              </a:ext>
            </a:extLst>
          </p:cNvPr>
          <p:cNvSpPr>
            <a:spLocks noGrp="1"/>
          </p:cNvSpPr>
          <p:nvPr>
            <p:ph type="dt" sz="half" idx="10"/>
          </p:nvPr>
        </p:nvSpPr>
        <p:spPr/>
        <p:txBody>
          <a:bodyPr/>
          <a:lstStyle/>
          <a:p>
            <a:fld id="{44901DAA-6A42-4F91-8A46-0A5C62319777}" type="datetimeFigureOut">
              <a:rPr lang="ar-SA" smtClean="0"/>
              <a:t>16/10/46</a:t>
            </a:fld>
            <a:endParaRPr lang="ar-SA"/>
          </a:p>
        </p:txBody>
      </p:sp>
      <p:sp>
        <p:nvSpPr>
          <p:cNvPr id="4" name="عنصر نائب للتذييل 3">
            <a:extLst>
              <a:ext uri="{FF2B5EF4-FFF2-40B4-BE49-F238E27FC236}">
                <a16:creationId xmlns:a16="http://schemas.microsoft.com/office/drawing/2014/main" id="{72FF4898-52D6-BA8C-AAA1-D50A4172FCC6}"/>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6916CBD8-0499-D3D3-05B0-4B277A50E55E}"/>
              </a:ext>
            </a:extLst>
          </p:cNvPr>
          <p:cNvSpPr>
            <a:spLocks noGrp="1"/>
          </p:cNvSpPr>
          <p:nvPr>
            <p:ph type="sldNum" sz="quarter" idx="12"/>
          </p:nvPr>
        </p:nvSpPr>
        <p:spPr/>
        <p:txBody>
          <a:bodyPr/>
          <a:lstStyle/>
          <a:p>
            <a:fld id="{3D09A206-A4CC-4BA5-95E0-B247DB894208}" type="slidenum">
              <a:rPr lang="ar-SA" smtClean="0"/>
              <a:t>‹#›</a:t>
            </a:fld>
            <a:endParaRPr lang="ar-SA"/>
          </a:p>
        </p:txBody>
      </p:sp>
    </p:spTree>
    <p:extLst>
      <p:ext uri="{BB962C8B-B14F-4D97-AF65-F5344CB8AC3E}">
        <p14:creationId xmlns:p14="http://schemas.microsoft.com/office/powerpoint/2010/main" val="4081700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8D5CF030-DAE5-FAAE-D2C9-CB0C52338EE5}"/>
              </a:ext>
            </a:extLst>
          </p:cNvPr>
          <p:cNvSpPr>
            <a:spLocks noGrp="1"/>
          </p:cNvSpPr>
          <p:nvPr>
            <p:ph type="dt" sz="half" idx="10"/>
          </p:nvPr>
        </p:nvSpPr>
        <p:spPr/>
        <p:txBody>
          <a:bodyPr/>
          <a:lstStyle/>
          <a:p>
            <a:fld id="{44901DAA-6A42-4F91-8A46-0A5C62319777}" type="datetimeFigureOut">
              <a:rPr lang="ar-SA" smtClean="0"/>
              <a:t>16/10/46</a:t>
            </a:fld>
            <a:endParaRPr lang="ar-SA"/>
          </a:p>
        </p:txBody>
      </p:sp>
      <p:sp>
        <p:nvSpPr>
          <p:cNvPr id="3" name="عنصر نائب للتذييل 2">
            <a:extLst>
              <a:ext uri="{FF2B5EF4-FFF2-40B4-BE49-F238E27FC236}">
                <a16:creationId xmlns:a16="http://schemas.microsoft.com/office/drawing/2014/main" id="{DA471492-3AFF-4031-AB2A-7E06DA825CB3}"/>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267DCA3E-DA8A-1CDA-85F7-0834F7F83EA7}"/>
              </a:ext>
            </a:extLst>
          </p:cNvPr>
          <p:cNvSpPr>
            <a:spLocks noGrp="1"/>
          </p:cNvSpPr>
          <p:nvPr>
            <p:ph type="sldNum" sz="quarter" idx="12"/>
          </p:nvPr>
        </p:nvSpPr>
        <p:spPr/>
        <p:txBody>
          <a:bodyPr/>
          <a:lstStyle/>
          <a:p>
            <a:fld id="{3D09A206-A4CC-4BA5-95E0-B247DB894208}" type="slidenum">
              <a:rPr lang="ar-SA" smtClean="0"/>
              <a:t>‹#›</a:t>
            </a:fld>
            <a:endParaRPr lang="ar-SA"/>
          </a:p>
        </p:txBody>
      </p:sp>
    </p:spTree>
    <p:extLst>
      <p:ext uri="{BB962C8B-B14F-4D97-AF65-F5344CB8AC3E}">
        <p14:creationId xmlns:p14="http://schemas.microsoft.com/office/powerpoint/2010/main" val="1661337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5C2C820-D4C9-D25A-C3C7-A1667B7F99E7}"/>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69EEAD4E-172D-379E-6AC0-D30F12E757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B3B79E8E-7264-F960-6F7D-88591778D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508E51B2-B646-57F2-50B9-D2EEA9F7A4F8}"/>
              </a:ext>
            </a:extLst>
          </p:cNvPr>
          <p:cNvSpPr>
            <a:spLocks noGrp="1"/>
          </p:cNvSpPr>
          <p:nvPr>
            <p:ph type="dt" sz="half" idx="10"/>
          </p:nvPr>
        </p:nvSpPr>
        <p:spPr/>
        <p:txBody>
          <a:bodyPr/>
          <a:lstStyle/>
          <a:p>
            <a:fld id="{44901DAA-6A42-4F91-8A46-0A5C62319777}" type="datetimeFigureOut">
              <a:rPr lang="ar-SA" smtClean="0"/>
              <a:t>16/10/46</a:t>
            </a:fld>
            <a:endParaRPr lang="ar-SA"/>
          </a:p>
        </p:txBody>
      </p:sp>
      <p:sp>
        <p:nvSpPr>
          <p:cNvPr id="6" name="عنصر نائب للتذييل 5">
            <a:extLst>
              <a:ext uri="{FF2B5EF4-FFF2-40B4-BE49-F238E27FC236}">
                <a16:creationId xmlns:a16="http://schemas.microsoft.com/office/drawing/2014/main" id="{4A4CE92C-DEC5-0ACA-AB66-CC28B403F533}"/>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2CF55CF5-9B67-B717-DAFD-2A634B854F2F}"/>
              </a:ext>
            </a:extLst>
          </p:cNvPr>
          <p:cNvSpPr>
            <a:spLocks noGrp="1"/>
          </p:cNvSpPr>
          <p:nvPr>
            <p:ph type="sldNum" sz="quarter" idx="12"/>
          </p:nvPr>
        </p:nvSpPr>
        <p:spPr/>
        <p:txBody>
          <a:bodyPr/>
          <a:lstStyle/>
          <a:p>
            <a:fld id="{3D09A206-A4CC-4BA5-95E0-B247DB894208}" type="slidenum">
              <a:rPr lang="ar-SA" smtClean="0"/>
              <a:t>‹#›</a:t>
            </a:fld>
            <a:endParaRPr lang="ar-SA"/>
          </a:p>
        </p:txBody>
      </p:sp>
    </p:spTree>
    <p:extLst>
      <p:ext uri="{BB962C8B-B14F-4D97-AF65-F5344CB8AC3E}">
        <p14:creationId xmlns:p14="http://schemas.microsoft.com/office/powerpoint/2010/main" val="102220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37796C7-5C5E-A58F-8A29-7613718C9588}"/>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29A870D3-E0AA-B37B-F0C5-E21492E259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0B315B15-B3D6-A2C8-4AA1-3201B481E2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1682642D-554D-5236-049D-D1A5F262B77D}"/>
              </a:ext>
            </a:extLst>
          </p:cNvPr>
          <p:cNvSpPr>
            <a:spLocks noGrp="1"/>
          </p:cNvSpPr>
          <p:nvPr>
            <p:ph type="dt" sz="half" idx="10"/>
          </p:nvPr>
        </p:nvSpPr>
        <p:spPr/>
        <p:txBody>
          <a:bodyPr/>
          <a:lstStyle/>
          <a:p>
            <a:fld id="{44901DAA-6A42-4F91-8A46-0A5C62319777}" type="datetimeFigureOut">
              <a:rPr lang="ar-SA" smtClean="0"/>
              <a:t>16/10/46</a:t>
            </a:fld>
            <a:endParaRPr lang="ar-SA"/>
          </a:p>
        </p:txBody>
      </p:sp>
      <p:sp>
        <p:nvSpPr>
          <p:cNvPr id="6" name="عنصر نائب للتذييل 5">
            <a:extLst>
              <a:ext uri="{FF2B5EF4-FFF2-40B4-BE49-F238E27FC236}">
                <a16:creationId xmlns:a16="http://schemas.microsoft.com/office/drawing/2014/main" id="{B03EC0C0-EE09-80B0-1FA6-66BE489BA655}"/>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1881BF32-C8E3-070D-C5A9-667B723158B7}"/>
              </a:ext>
            </a:extLst>
          </p:cNvPr>
          <p:cNvSpPr>
            <a:spLocks noGrp="1"/>
          </p:cNvSpPr>
          <p:nvPr>
            <p:ph type="sldNum" sz="quarter" idx="12"/>
          </p:nvPr>
        </p:nvSpPr>
        <p:spPr/>
        <p:txBody>
          <a:bodyPr/>
          <a:lstStyle/>
          <a:p>
            <a:fld id="{3D09A206-A4CC-4BA5-95E0-B247DB894208}" type="slidenum">
              <a:rPr lang="ar-SA" smtClean="0"/>
              <a:t>‹#›</a:t>
            </a:fld>
            <a:endParaRPr lang="ar-SA"/>
          </a:p>
        </p:txBody>
      </p:sp>
    </p:spTree>
    <p:extLst>
      <p:ext uri="{BB962C8B-B14F-4D97-AF65-F5344CB8AC3E}">
        <p14:creationId xmlns:p14="http://schemas.microsoft.com/office/powerpoint/2010/main" val="923762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33AF809-2031-A7AA-8B03-6EB6254AD63D}"/>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6EF3F00F-1514-6744-69EA-4C333A13448A}"/>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97F2C3A-EC57-F3BF-4809-99BB050883D4}"/>
              </a:ext>
            </a:extLst>
          </p:cNvPr>
          <p:cNvSpPr>
            <a:spLocks noGrp="1"/>
          </p:cNvSpPr>
          <p:nvPr>
            <p:ph type="dt" sz="half" idx="10"/>
          </p:nvPr>
        </p:nvSpPr>
        <p:spPr/>
        <p:txBody>
          <a:bodyPr/>
          <a:lstStyle/>
          <a:p>
            <a:fld id="{44901DAA-6A42-4F91-8A46-0A5C62319777}" type="datetimeFigureOut">
              <a:rPr lang="ar-SA" smtClean="0"/>
              <a:t>16/10/46</a:t>
            </a:fld>
            <a:endParaRPr lang="ar-SA"/>
          </a:p>
        </p:txBody>
      </p:sp>
      <p:sp>
        <p:nvSpPr>
          <p:cNvPr id="5" name="عنصر نائب للتذييل 4">
            <a:extLst>
              <a:ext uri="{FF2B5EF4-FFF2-40B4-BE49-F238E27FC236}">
                <a16:creationId xmlns:a16="http://schemas.microsoft.com/office/drawing/2014/main" id="{1F931F22-9654-F635-1864-348507B08503}"/>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2784E96B-2FEA-D1D1-4839-CF33EDE23F60}"/>
              </a:ext>
            </a:extLst>
          </p:cNvPr>
          <p:cNvSpPr>
            <a:spLocks noGrp="1"/>
          </p:cNvSpPr>
          <p:nvPr>
            <p:ph type="sldNum" sz="quarter" idx="12"/>
          </p:nvPr>
        </p:nvSpPr>
        <p:spPr/>
        <p:txBody>
          <a:bodyPr/>
          <a:lstStyle/>
          <a:p>
            <a:fld id="{3D09A206-A4CC-4BA5-95E0-B247DB894208}" type="slidenum">
              <a:rPr lang="ar-SA" smtClean="0"/>
              <a:t>‹#›</a:t>
            </a:fld>
            <a:endParaRPr lang="ar-SA"/>
          </a:p>
        </p:txBody>
      </p:sp>
    </p:spTree>
    <p:extLst>
      <p:ext uri="{BB962C8B-B14F-4D97-AF65-F5344CB8AC3E}">
        <p14:creationId xmlns:p14="http://schemas.microsoft.com/office/powerpoint/2010/main" val="3325737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5A62F0DD-FC8C-FDC2-3055-A3DFDB30472C}"/>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3A5F6CAB-D5A4-8659-4612-A8096FB2E7C3}"/>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F79D99F4-086C-3D02-7E57-9C64582F7E55}"/>
              </a:ext>
            </a:extLst>
          </p:cNvPr>
          <p:cNvSpPr>
            <a:spLocks noGrp="1"/>
          </p:cNvSpPr>
          <p:nvPr>
            <p:ph type="dt" sz="half" idx="10"/>
          </p:nvPr>
        </p:nvSpPr>
        <p:spPr/>
        <p:txBody>
          <a:bodyPr/>
          <a:lstStyle/>
          <a:p>
            <a:fld id="{44901DAA-6A42-4F91-8A46-0A5C62319777}" type="datetimeFigureOut">
              <a:rPr lang="ar-SA" smtClean="0"/>
              <a:t>16/10/46</a:t>
            </a:fld>
            <a:endParaRPr lang="ar-SA"/>
          </a:p>
        </p:txBody>
      </p:sp>
      <p:sp>
        <p:nvSpPr>
          <p:cNvPr id="5" name="عنصر نائب للتذييل 4">
            <a:extLst>
              <a:ext uri="{FF2B5EF4-FFF2-40B4-BE49-F238E27FC236}">
                <a16:creationId xmlns:a16="http://schemas.microsoft.com/office/drawing/2014/main" id="{1DB77FF6-A03D-A7E9-1C2A-A5CA19A9C194}"/>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6192CF32-57CB-94AC-345F-4F96CD8BBCB5}"/>
              </a:ext>
            </a:extLst>
          </p:cNvPr>
          <p:cNvSpPr>
            <a:spLocks noGrp="1"/>
          </p:cNvSpPr>
          <p:nvPr>
            <p:ph type="sldNum" sz="quarter" idx="12"/>
          </p:nvPr>
        </p:nvSpPr>
        <p:spPr/>
        <p:txBody>
          <a:bodyPr/>
          <a:lstStyle/>
          <a:p>
            <a:fld id="{3D09A206-A4CC-4BA5-95E0-B247DB894208}" type="slidenum">
              <a:rPr lang="ar-SA" smtClean="0"/>
              <a:t>‹#›</a:t>
            </a:fld>
            <a:endParaRPr lang="ar-SA"/>
          </a:p>
        </p:txBody>
      </p:sp>
    </p:spTree>
    <p:extLst>
      <p:ext uri="{BB962C8B-B14F-4D97-AF65-F5344CB8AC3E}">
        <p14:creationId xmlns:p14="http://schemas.microsoft.com/office/powerpoint/2010/main" val="763793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BAEB1756-0139-CD96-0FEB-ADB33B2DC75E}"/>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C3DDFD19-E45C-BB35-2D70-9CCC2DC96408}"/>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77FBE703-FF31-343B-79DE-19DA0D88F9AB}"/>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44901DAA-6A42-4F91-8A46-0A5C62319777}" type="datetimeFigureOut">
              <a:rPr lang="ar-SA" smtClean="0"/>
              <a:t>16/10/46</a:t>
            </a:fld>
            <a:endParaRPr lang="ar-SA"/>
          </a:p>
        </p:txBody>
      </p:sp>
      <p:sp>
        <p:nvSpPr>
          <p:cNvPr id="5" name="عنصر نائب للتذييل 4">
            <a:extLst>
              <a:ext uri="{FF2B5EF4-FFF2-40B4-BE49-F238E27FC236}">
                <a16:creationId xmlns:a16="http://schemas.microsoft.com/office/drawing/2014/main" id="{FFE032AF-2375-35CC-D90C-A4E335D6D9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BED85D56-1B3D-2AA3-F305-8C71205DC2E9}"/>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3D09A206-A4CC-4BA5-95E0-B247DB894208}" type="slidenum">
              <a:rPr lang="ar-SA" smtClean="0"/>
              <a:t>‹#›</a:t>
            </a:fld>
            <a:endParaRPr lang="ar-SA"/>
          </a:p>
        </p:txBody>
      </p:sp>
    </p:spTree>
    <p:extLst>
      <p:ext uri="{BB962C8B-B14F-4D97-AF65-F5344CB8AC3E}">
        <p14:creationId xmlns:p14="http://schemas.microsoft.com/office/powerpoint/2010/main" val="2373566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3BCEA90-F7D5-4EC1-9BE2-5A49A20F4B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848F91B-FA65-4A06-A177-8CCF7EBC86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78410" cy="61950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ملف فيديو 6" descr="حزم المربعات">
            <a:extLst>
              <a:ext uri="{FF2B5EF4-FFF2-40B4-BE49-F238E27FC236}">
                <a16:creationId xmlns:a16="http://schemas.microsoft.com/office/drawing/2014/main" id="{48978D4E-60B4-87EE-1AEC-19E69A9AA704}"/>
              </a:ext>
            </a:extLst>
          </p:cNvPr>
          <p:cNvPicPr>
            <a:picLocks noChangeAspect="1"/>
          </p:cNvPicPr>
          <p:nvPr>
            <a:videoFile r:link="rId2"/>
            <p:extLst>
              <p:ext uri="{DAA4B4D4-6D71-4841-9C94-3DE7FCFB9230}">
                <p14:media xmlns:p14="http://schemas.microsoft.com/office/powerpoint/2010/main" r:embed="rId1"/>
              </p:ext>
            </p:extLst>
          </p:nvPr>
        </p:nvPicPr>
        <p:blipFill>
          <a:blip r:embed="rId4">
            <a:alphaModFix amt="30000"/>
          </a:blip>
          <a:srcRect r="1" b="285"/>
          <a:stretch/>
        </p:blipFill>
        <p:spPr>
          <a:xfrm>
            <a:off x="573587" y="0"/>
            <a:ext cx="11044828" cy="6195072"/>
          </a:xfrm>
          <a:prstGeom prst="rect">
            <a:avLst/>
          </a:prstGeom>
        </p:spPr>
      </p:pic>
      <p:sp>
        <p:nvSpPr>
          <p:cNvPr id="22" name="Graphic 14">
            <a:extLst>
              <a:ext uri="{FF2B5EF4-FFF2-40B4-BE49-F238E27FC236}">
                <a16:creationId xmlns:a16="http://schemas.microsoft.com/office/drawing/2014/main" id="{2CF7CF5F-D747-47B3-80B1-8392750446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flipV="1">
            <a:off x="0" y="-2"/>
            <a:ext cx="2743200" cy="2746621"/>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bg1">
              <a:alpha val="25000"/>
            </a:schemeClr>
          </a:solidFill>
          <a:ln w="9525" cap="flat">
            <a:noFill/>
            <a:prstDash val="solid"/>
            <a:miter/>
          </a:ln>
        </p:spPr>
        <p:txBody>
          <a:bodyPr rtlCol="0" anchor="ctr"/>
          <a:lstStyle/>
          <a:p>
            <a:endParaRPr lang="en-US"/>
          </a:p>
        </p:txBody>
      </p:sp>
      <p:sp>
        <p:nvSpPr>
          <p:cNvPr id="4" name="عنوان 3">
            <a:extLst>
              <a:ext uri="{FF2B5EF4-FFF2-40B4-BE49-F238E27FC236}">
                <a16:creationId xmlns:a16="http://schemas.microsoft.com/office/drawing/2014/main" id="{5066484B-939B-AC36-1C33-335D053BA71F}"/>
              </a:ext>
            </a:extLst>
          </p:cNvPr>
          <p:cNvSpPr>
            <a:spLocks noGrp="1"/>
          </p:cNvSpPr>
          <p:nvPr>
            <p:ph type="ctrTitle"/>
          </p:nvPr>
        </p:nvSpPr>
        <p:spPr>
          <a:xfrm>
            <a:off x="3480009" y="1849748"/>
            <a:ext cx="5218394" cy="2595563"/>
          </a:xfrm>
        </p:spPr>
        <p:txBody>
          <a:bodyPr>
            <a:normAutofit fontScale="90000"/>
          </a:bodyPr>
          <a:lstStyle/>
          <a:p>
            <a:r>
              <a:rPr lang="en-US" sz="5000" b="1" dirty="0">
                <a:solidFill>
                  <a:schemeClr val="bg1"/>
                </a:solidFill>
              </a:rPr>
              <a:t>Automated Review Analysis System</a:t>
            </a:r>
            <a:endParaRPr lang="ar-SA" sz="5000" b="1" dirty="0">
              <a:solidFill>
                <a:schemeClr val="bg1"/>
              </a:solidFill>
            </a:endParaRPr>
          </a:p>
        </p:txBody>
      </p:sp>
      <p:sp>
        <p:nvSpPr>
          <p:cNvPr id="24" name="Graphic 14">
            <a:extLst>
              <a:ext uri="{FF2B5EF4-FFF2-40B4-BE49-F238E27FC236}">
                <a16:creationId xmlns:a16="http://schemas.microsoft.com/office/drawing/2014/main" id="{820B6604-1FF9-43F5-AC47-3D41CB2F5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448800" y="4111379"/>
            <a:ext cx="2743200" cy="2746621"/>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bg1"/>
          </a:solidFill>
          <a:ln w="9525" cap="flat">
            <a:noFill/>
            <a:prstDash val="solid"/>
            <a:miter/>
          </a:ln>
        </p:spPr>
        <p:txBody>
          <a:bodyPr rtlCol="0" anchor="ctr"/>
          <a:lstStyle/>
          <a:p>
            <a:endParaRPr lang="en-US"/>
          </a:p>
        </p:txBody>
      </p:sp>
      <p:sp>
        <p:nvSpPr>
          <p:cNvPr id="5" name="عنوان فرعي 4">
            <a:extLst>
              <a:ext uri="{FF2B5EF4-FFF2-40B4-BE49-F238E27FC236}">
                <a16:creationId xmlns:a16="http://schemas.microsoft.com/office/drawing/2014/main" id="{DF83665C-8E2D-5E83-0C1A-E62612C78BE4}"/>
              </a:ext>
            </a:extLst>
          </p:cNvPr>
          <p:cNvSpPr>
            <a:spLocks noGrp="1"/>
          </p:cNvSpPr>
          <p:nvPr>
            <p:ph type="subTitle" idx="1"/>
          </p:nvPr>
        </p:nvSpPr>
        <p:spPr>
          <a:xfrm>
            <a:off x="1371599" y="4736620"/>
            <a:ext cx="9283781" cy="1006472"/>
          </a:xfrm>
        </p:spPr>
        <p:txBody>
          <a:bodyPr>
            <a:normAutofit/>
          </a:bodyPr>
          <a:lstStyle/>
          <a:p>
            <a:r>
              <a:rPr lang="en-US" sz="2200" b="1" dirty="0">
                <a:solidFill>
                  <a:schemeClr val="bg1"/>
                </a:solidFill>
              </a:rPr>
              <a:t>Developed by: </a:t>
            </a:r>
          </a:p>
          <a:p>
            <a:r>
              <a:rPr lang="en-US" sz="2200" b="1" dirty="0">
                <a:solidFill>
                  <a:schemeClr val="bg1"/>
                </a:solidFill>
              </a:rPr>
              <a:t>Nada Alnemari</a:t>
            </a:r>
            <a:endParaRPr lang="ar-SA" sz="2200" b="1" dirty="0">
              <a:solidFill>
                <a:schemeClr val="bg1"/>
              </a:solidFill>
            </a:endParaRPr>
          </a:p>
        </p:txBody>
      </p:sp>
      <p:sp>
        <p:nvSpPr>
          <p:cNvPr id="26" name="Rectangle 25">
            <a:extLst>
              <a:ext uri="{FF2B5EF4-FFF2-40B4-BE49-F238E27FC236}">
                <a16:creationId xmlns:a16="http://schemas.microsoft.com/office/drawing/2014/main" id="{D98779F6-5395-4B82-BDCB-4ADF6A5BB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373" y="685797"/>
            <a:ext cx="118872" cy="1550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Graphic 14">
            <a:extLst>
              <a:ext uri="{FF2B5EF4-FFF2-40B4-BE49-F238E27FC236}">
                <a16:creationId xmlns:a16="http://schemas.microsoft.com/office/drawing/2014/main" id="{CE1108CD-786E-4304-9504-9C5AD6482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9448800" y="-1"/>
            <a:ext cx="2743200" cy="2746621"/>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bg1">
              <a:alpha val="25000"/>
            </a:schemeClr>
          </a:solidFill>
          <a:ln w="9525" cap="flat">
            <a:noFill/>
            <a:prstDash val="solid"/>
            <a:miter/>
          </a:ln>
        </p:spPr>
        <p:txBody>
          <a:bodyPr rtlCol="0" anchor="ctr"/>
          <a:lstStyle/>
          <a:p>
            <a:endParaRPr lang="en-US"/>
          </a:p>
        </p:txBody>
      </p:sp>
      <p:sp>
        <p:nvSpPr>
          <p:cNvPr id="30" name="Rectangle 29">
            <a:extLst>
              <a:ext uri="{FF2B5EF4-FFF2-40B4-BE49-F238E27FC236}">
                <a16:creationId xmlns:a16="http://schemas.microsoft.com/office/drawing/2014/main" id="{C70191CD-D48F-4F7A-8077-0380603A2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73128" y="6172201"/>
            <a:ext cx="118872"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403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18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F4464C6C-205C-A6E5-D890-905655190AE8}"/>
              </a:ext>
            </a:extLst>
          </p:cNvPr>
          <p:cNvSpPr>
            <a:spLocks noGrp="1"/>
          </p:cNvSpPr>
          <p:nvPr>
            <p:ph type="title"/>
          </p:nvPr>
        </p:nvSpPr>
        <p:spPr>
          <a:xfrm>
            <a:off x="804672" y="802955"/>
            <a:ext cx="4766330" cy="1454051"/>
          </a:xfrm>
        </p:spPr>
        <p:txBody>
          <a:bodyPr>
            <a:normAutofit/>
          </a:bodyPr>
          <a:lstStyle/>
          <a:p>
            <a:r>
              <a:rPr lang="en-US" sz="3600" b="1" dirty="0">
                <a:solidFill>
                  <a:schemeClr val="tx2"/>
                </a:solidFill>
              </a:rPr>
              <a:t>Dataset </a:t>
            </a:r>
            <a:endParaRPr lang="ar-SA" sz="3600" b="1" dirty="0">
              <a:solidFill>
                <a:schemeClr val="tx2"/>
              </a:solidFill>
            </a:endParaRPr>
          </a:p>
        </p:txBody>
      </p:sp>
      <p:sp>
        <p:nvSpPr>
          <p:cNvPr id="3" name="عنصر نائب للمحتوى 2">
            <a:extLst>
              <a:ext uri="{FF2B5EF4-FFF2-40B4-BE49-F238E27FC236}">
                <a16:creationId xmlns:a16="http://schemas.microsoft.com/office/drawing/2014/main" id="{73CEC4D1-AFB7-82B5-0B54-DB0CD924A920}"/>
              </a:ext>
            </a:extLst>
          </p:cNvPr>
          <p:cNvSpPr>
            <a:spLocks noGrp="1"/>
          </p:cNvSpPr>
          <p:nvPr>
            <p:ph idx="1"/>
          </p:nvPr>
        </p:nvSpPr>
        <p:spPr>
          <a:xfrm>
            <a:off x="804672" y="2421683"/>
            <a:ext cx="4765949" cy="3353476"/>
          </a:xfrm>
        </p:spPr>
        <p:txBody>
          <a:bodyPr anchor="t">
            <a:normAutofit/>
          </a:bodyPr>
          <a:lstStyle/>
          <a:p>
            <a:r>
              <a:rPr lang="en-US" sz="2400" dirty="0">
                <a:solidFill>
                  <a:schemeClr val="tx2"/>
                </a:solidFill>
              </a:rPr>
              <a:t>I use Primary Dataset: Amazon Product Reviews</a:t>
            </a:r>
          </a:p>
          <a:p>
            <a:pPr marL="0" indent="0">
              <a:buNone/>
            </a:pPr>
            <a:r>
              <a:rPr lang="en-US" sz="2400" dirty="0">
                <a:solidFill>
                  <a:schemeClr val="tx2"/>
                </a:solidFill>
              </a:rPr>
              <a:t>This dataset is a list of over 28,000 consumer reviews for Amazon products </a:t>
            </a:r>
          </a:p>
          <a:p>
            <a:pPr marL="0" indent="0">
              <a:buNone/>
            </a:pPr>
            <a:endParaRPr lang="en-US" sz="2400" dirty="0">
              <a:solidFill>
                <a:schemeClr val="tx2"/>
              </a:solidFill>
            </a:endParaRPr>
          </a:p>
          <a:p>
            <a:pPr marL="0" indent="0">
              <a:buNone/>
            </a:pPr>
            <a:endParaRPr lang="en-US" sz="2400" dirty="0">
              <a:solidFill>
                <a:schemeClr val="tx2"/>
              </a:solidFill>
            </a:endParaRPr>
          </a:p>
          <a:p>
            <a:pPr marL="0" indent="0">
              <a:buNone/>
            </a:pPr>
            <a:endParaRPr lang="ar-SA" sz="2400" dirty="0">
              <a:solidFill>
                <a:schemeClr val="tx2"/>
              </a:solidFill>
            </a:endParaRPr>
          </a:p>
        </p:txBody>
      </p:sp>
      <p:grpSp>
        <p:nvGrpSpPr>
          <p:cNvPr id="16" name="Group 15">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7" name="Freeform: Shape 16">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قاعدة بيانات">
            <a:extLst>
              <a:ext uri="{FF2B5EF4-FFF2-40B4-BE49-F238E27FC236}">
                <a16:creationId xmlns:a16="http://schemas.microsoft.com/office/drawing/2014/main" id="{0EF09527-E1CB-621B-0DDD-3FF4E76F58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08392" y="1819656"/>
            <a:ext cx="4142232" cy="4142232"/>
          </a:xfrm>
          <a:prstGeom prst="rect">
            <a:avLst/>
          </a:prstGeom>
        </p:spPr>
      </p:pic>
    </p:spTree>
    <p:extLst>
      <p:ext uri="{BB962C8B-B14F-4D97-AF65-F5344CB8AC3E}">
        <p14:creationId xmlns:p14="http://schemas.microsoft.com/office/powerpoint/2010/main" val="739354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عنصر نائب للمحتوى 2">
            <a:extLst>
              <a:ext uri="{FF2B5EF4-FFF2-40B4-BE49-F238E27FC236}">
                <a16:creationId xmlns:a16="http://schemas.microsoft.com/office/drawing/2014/main" id="{0CFCEAD9-54B9-9410-54A7-A506CABDD7AB}"/>
              </a:ext>
            </a:extLst>
          </p:cNvPr>
          <p:cNvSpPr>
            <a:spLocks noGrp="1"/>
          </p:cNvSpPr>
          <p:nvPr>
            <p:ph idx="1"/>
          </p:nvPr>
        </p:nvSpPr>
        <p:spPr>
          <a:xfrm>
            <a:off x="1179226" y="973394"/>
            <a:ext cx="9833548" cy="4611561"/>
          </a:xfrm>
        </p:spPr>
        <p:txBody>
          <a:bodyPr>
            <a:noAutofit/>
          </a:bodyPr>
          <a:lstStyle/>
          <a:p>
            <a:pPr>
              <a:buNone/>
            </a:pPr>
            <a:r>
              <a:rPr lang="en-US" sz="2400" b="1" dirty="0">
                <a:solidFill>
                  <a:schemeClr val="tx2"/>
                </a:solidFill>
              </a:rPr>
              <a:t>Hypothesis:</a:t>
            </a:r>
            <a:endParaRPr lang="en-US" sz="2400" dirty="0">
              <a:solidFill>
                <a:schemeClr val="tx2"/>
              </a:solidFill>
            </a:endParaRPr>
          </a:p>
          <a:p>
            <a:pPr>
              <a:buFont typeface="Arial" panose="020B0604020202020204" pitchFamily="34" charset="0"/>
              <a:buChar char="•"/>
            </a:pPr>
            <a:r>
              <a:rPr lang="en-US" sz="2400" dirty="0">
                <a:solidFill>
                  <a:schemeClr val="tx2"/>
                </a:solidFill>
              </a:rPr>
              <a:t>By classifying and clustering reviews and summarizing them into readable articles — we can help customers make better purchase decisions and help businesses improve products.</a:t>
            </a:r>
          </a:p>
          <a:p>
            <a:pPr>
              <a:buNone/>
            </a:pPr>
            <a:r>
              <a:rPr lang="en-US" sz="2400" b="1" dirty="0">
                <a:solidFill>
                  <a:schemeClr val="tx2"/>
                </a:solidFill>
              </a:rPr>
              <a:t>Approach:</a:t>
            </a:r>
            <a:endParaRPr lang="en-US" sz="2400" dirty="0">
              <a:solidFill>
                <a:schemeClr val="tx2"/>
              </a:solidFill>
            </a:endParaRPr>
          </a:p>
          <a:p>
            <a:pPr>
              <a:buFont typeface="Arial" panose="020B0604020202020204" pitchFamily="34" charset="0"/>
              <a:buChar char="•"/>
            </a:pPr>
            <a:r>
              <a:rPr lang="en-US" sz="2400" b="1" dirty="0">
                <a:solidFill>
                  <a:schemeClr val="tx2"/>
                </a:solidFill>
              </a:rPr>
              <a:t>Classification:</a:t>
            </a:r>
            <a:r>
              <a:rPr lang="en-US" sz="2400" dirty="0">
                <a:solidFill>
                  <a:schemeClr val="tx2"/>
                </a:solidFill>
              </a:rPr>
              <a:t> Sentiment analysis (Positive, Negative, Neutral)</a:t>
            </a:r>
          </a:p>
          <a:p>
            <a:pPr>
              <a:buFont typeface="Arial" panose="020B0604020202020204" pitchFamily="34" charset="0"/>
              <a:buChar char="•"/>
            </a:pPr>
            <a:r>
              <a:rPr lang="en-US" sz="2400" b="1" dirty="0">
                <a:solidFill>
                  <a:schemeClr val="tx2"/>
                </a:solidFill>
              </a:rPr>
              <a:t>Clustering:</a:t>
            </a:r>
            <a:r>
              <a:rPr lang="en-US" sz="2400" dirty="0">
                <a:solidFill>
                  <a:schemeClr val="tx2"/>
                </a:solidFill>
              </a:rPr>
              <a:t> Grouping products into 4-6 meta-categories</a:t>
            </a:r>
          </a:p>
          <a:p>
            <a:pPr>
              <a:buFont typeface="Arial" panose="020B0604020202020204" pitchFamily="34" charset="0"/>
              <a:buChar char="•"/>
            </a:pPr>
            <a:r>
              <a:rPr lang="en-US" sz="2400" b="1" dirty="0">
                <a:solidFill>
                  <a:schemeClr val="tx2"/>
                </a:solidFill>
              </a:rPr>
              <a:t>Summarization:</a:t>
            </a:r>
            <a:r>
              <a:rPr lang="en-US" sz="2400" dirty="0">
                <a:solidFill>
                  <a:schemeClr val="tx2"/>
                </a:solidFill>
              </a:rPr>
              <a:t> Generating articles recommending products</a:t>
            </a: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63232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عنوان 1">
            <a:extLst>
              <a:ext uri="{FF2B5EF4-FFF2-40B4-BE49-F238E27FC236}">
                <a16:creationId xmlns:a16="http://schemas.microsoft.com/office/drawing/2014/main" id="{3E6C381F-2D81-16B2-153E-97D5931EF41E}"/>
              </a:ext>
            </a:extLst>
          </p:cNvPr>
          <p:cNvSpPr>
            <a:spLocks noGrp="1"/>
          </p:cNvSpPr>
          <p:nvPr>
            <p:ph type="title"/>
          </p:nvPr>
        </p:nvSpPr>
        <p:spPr>
          <a:xfrm>
            <a:off x="1179226" y="1280679"/>
            <a:ext cx="9833548" cy="864773"/>
          </a:xfrm>
        </p:spPr>
        <p:txBody>
          <a:bodyPr anchor="b">
            <a:normAutofit/>
          </a:bodyPr>
          <a:lstStyle/>
          <a:p>
            <a:r>
              <a:rPr lang="en-US" sz="3600" b="1" dirty="0">
                <a:solidFill>
                  <a:schemeClr val="tx2"/>
                </a:solidFill>
              </a:rPr>
              <a:t>Data Wrangling &amp; Cleaning</a:t>
            </a:r>
            <a:endParaRPr lang="ar-SA" sz="3600" dirty="0">
              <a:solidFill>
                <a:schemeClr val="tx2"/>
              </a:solidFill>
            </a:endParaRP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عنصر نائب للمحتوى 2">
            <a:extLst>
              <a:ext uri="{FF2B5EF4-FFF2-40B4-BE49-F238E27FC236}">
                <a16:creationId xmlns:a16="http://schemas.microsoft.com/office/drawing/2014/main" id="{E91FE728-EF19-AE56-8ECA-7D31F5D08150}"/>
              </a:ext>
            </a:extLst>
          </p:cNvPr>
          <p:cNvSpPr>
            <a:spLocks noGrp="1"/>
          </p:cNvSpPr>
          <p:nvPr>
            <p:ph idx="1"/>
          </p:nvPr>
        </p:nvSpPr>
        <p:spPr>
          <a:xfrm>
            <a:off x="1179226" y="2296870"/>
            <a:ext cx="9833548" cy="3288085"/>
          </a:xfrm>
        </p:spPr>
        <p:txBody>
          <a:bodyPr>
            <a:normAutofit/>
          </a:bodyPr>
          <a:lstStyle/>
          <a:p>
            <a:pPr marL="0" indent="0">
              <a:buNone/>
            </a:pPr>
            <a:r>
              <a:rPr lang="en-US" sz="2400" b="1" dirty="0">
                <a:solidFill>
                  <a:schemeClr val="tx2"/>
                </a:solidFill>
              </a:rPr>
              <a:t>Challenges</a:t>
            </a:r>
            <a:r>
              <a:rPr lang="en-US" sz="2400" dirty="0">
                <a:solidFill>
                  <a:schemeClr val="tx2"/>
                </a:solidFill>
              </a:rPr>
              <a:t>:</a:t>
            </a:r>
          </a:p>
          <a:p>
            <a:r>
              <a:rPr lang="en-US" sz="2400" dirty="0">
                <a:solidFill>
                  <a:schemeClr val="tx2"/>
                </a:solidFill>
              </a:rPr>
              <a:t>Missing values in review text &amp; product categories</a:t>
            </a:r>
          </a:p>
          <a:p>
            <a:r>
              <a:rPr lang="en-US" sz="2400" dirty="0">
                <a:solidFill>
                  <a:schemeClr val="tx2"/>
                </a:solidFill>
              </a:rPr>
              <a:t>Duplicate product listings</a:t>
            </a:r>
          </a:p>
          <a:p>
            <a:pPr marL="0" indent="0">
              <a:buNone/>
            </a:pPr>
            <a:r>
              <a:rPr lang="en-US" sz="2400" b="1" dirty="0">
                <a:solidFill>
                  <a:schemeClr val="tx2"/>
                </a:solidFill>
              </a:rPr>
              <a:t>Techniques Used:</a:t>
            </a:r>
          </a:p>
          <a:p>
            <a:r>
              <a:rPr lang="en-US" sz="2400" dirty="0">
                <a:solidFill>
                  <a:schemeClr val="tx2"/>
                </a:solidFill>
              </a:rPr>
              <a:t>Dropped rows with null essential values</a:t>
            </a:r>
          </a:p>
          <a:p>
            <a:r>
              <a:rPr lang="en-US" sz="2400" dirty="0">
                <a:solidFill>
                  <a:schemeClr val="tx2"/>
                </a:solidFill>
              </a:rPr>
              <a:t>Removed duplicates</a:t>
            </a:r>
          </a:p>
          <a:p>
            <a:r>
              <a:rPr lang="en-US" sz="2400" dirty="0">
                <a:solidFill>
                  <a:schemeClr val="tx2"/>
                </a:solidFill>
              </a:rPr>
              <a:t>Clustered product categories into meta-categories</a:t>
            </a:r>
            <a:endParaRPr lang="ar-SA" sz="2400" dirty="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6405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6" name="Rectangle 6150">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7" name="Rectangle 6152">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68" name="Group 6154">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6169" name="Freeform: Shape 6155">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0" name="Freeform: Shape 6156">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71" name="Freeform: Shape 6157">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72" name="Freeform: Shape 6158">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61" name="Group 6160">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6162" name="Freeform: Shape 6161">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3" name="Freeform: Shape 6162">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4" name="Freeform: Shape 6163">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165" name="Freeform: Shape 6164">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146" name="Picture 2" descr="صورة تحتوي على نص, لقطة شاشة, رقم, رسم بياني&#10;&#10;قد يكون المحتوى المعد بواسطة الذكاء الاصطناعي غير صحيح.">
            <a:extLst>
              <a:ext uri="{FF2B5EF4-FFF2-40B4-BE49-F238E27FC236}">
                <a16:creationId xmlns:a16="http://schemas.microsoft.com/office/drawing/2014/main" id="{D7CC8F9F-BD20-EF5A-B15F-D64F5266CD6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55365" y="117369"/>
            <a:ext cx="8860550" cy="6623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537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4" name="Freeform: Shape 13">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9" name="Freeform: Shape 18">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 name="عنوان 3">
            <a:extLst>
              <a:ext uri="{FF2B5EF4-FFF2-40B4-BE49-F238E27FC236}">
                <a16:creationId xmlns:a16="http://schemas.microsoft.com/office/drawing/2014/main" id="{F4379FA9-033D-0058-7E77-649A92E27773}"/>
              </a:ext>
            </a:extLst>
          </p:cNvPr>
          <p:cNvSpPr>
            <a:spLocks noGrp="1"/>
          </p:cNvSpPr>
          <p:nvPr>
            <p:ph type="ctrTitle"/>
          </p:nvPr>
        </p:nvSpPr>
        <p:spPr>
          <a:xfrm>
            <a:off x="3215729" y="1764407"/>
            <a:ext cx="5760846" cy="2310312"/>
          </a:xfrm>
        </p:spPr>
        <p:txBody>
          <a:bodyPr>
            <a:normAutofit/>
          </a:bodyPr>
          <a:lstStyle/>
          <a:p>
            <a:r>
              <a:rPr lang="en-US" sz="5200" dirty="0">
                <a:solidFill>
                  <a:schemeClr val="tx2"/>
                </a:solidFill>
              </a:rPr>
              <a:t>Models</a:t>
            </a:r>
            <a:endParaRPr lang="ar-SA" sz="5200" dirty="0">
              <a:solidFill>
                <a:schemeClr val="tx2"/>
              </a:solidFill>
            </a:endParaRPr>
          </a:p>
        </p:txBody>
      </p:sp>
    </p:spTree>
    <p:extLst>
      <p:ext uri="{BB962C8B-B14F-4D97-AF65-F5344CB8AC3E}">
        <p14:creationId xmlns:p14="http://schemas.microsoft.com/office/powerpoint/2010/main" val="2043968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عنصر نائب للمحتوى 3">
            <a:extLst>
              <a:ext uri="{FF2B5EF4-FFF2-40B4-BE49-F238E27FC236}">
                <a16:creationId xmlns:a16="http://schemas.microsoft.com/office/drawing/2014/main" id="{AE7A2FE9-55C9-478E-7794-CE04A0E7F627}"/>
              </a:ext>
            </a:extLst>
          </p:cNvPr>
          <p:cNvGraphicFramePr>
            <a:graphicFrameLocks noGrp="1"/>
          </p:cNvGraphicFramePr>
          <p:nvPr>
            <p:ph idx="1"/>
            <p:extLst>
              <p:ext uri="{D42A27DB-BD31-4B8C-83A1-F6EECF244321}">
                <p14:modId xmlns:p14="http://schemas.microsoft.com/office/powerpoint/2010/main" val="2577843540"/>
              </p:ext>
            </p:extLst>
          </p:nvPr>
        </p:nvGraphicFramePr>
        <p:xfrm>
          <a:off x="643467" y="1605416"/>
          <a:ext cx="10905068" cy="3973184"/>
        </p:xfrm>
        <a:graphic>
          <a:graphicData uri="http://schemas.openxmlformats.org/drawingml/2006/table">
            <a:tbl>
              <a:tblPr>
                <a:noFill/>
              </a:tblPr>
              <a:tblGrid>
                <a:gridCol w="2052438">
                  <a:extLst>
                    <a:ext uri="{9D8B030D-6E8A-4147-A177-3AD203B41FA5}">
                      <a16:colId xmlns:a16="http://schemas.microsoft.com/office/drawing/2014/main" val="2780315554"/>
                    </a:ext>
                  </a:extLst>
                </a:gridCol>
                <a:gridCol w="2414260">
                  <a:extLst>
                    <a:ext uri="{9D8B030D-6E8A-4147-A177-3AD203B41FA5}">
                      <a16:colId xmlns:a16="http://schemas.microsoft.com/office/drawing/2014/main" val="3333655384"/>
                    </a:ext>
                  </a:extLst>
                </a:gridCol>
                <a:gridCol w="1503243">
                  <a:extLst>
                    <a:ext uri="{9D8B030D-6E8A-4147-A177-3AD203B41FA5}">
                      <a16:colId xmlns:a16="http://schemas.microsoft.com/office/drawing/2014/main" val="87630146"/>
                    </a:ext>
                  </a:extLst>
                </a:gridCol>
                <a:gridCol w="2339956">
                  <a:extLst>
                    <a:ext uri="{9D8B030D-6E8A-4147-A177-3AD203B41FA5}">
                      <a16:colId xmlns:a16="http://schemas.microsoft.com/office/drawing/2014/main" val="2967972743"/>
                    </a:ext>
                  </a:extLst>
                </a:gridCol>
                <a:gridCol w="2595171">
                  <a:extLst>
                    <a:ext uri="{9D8B030D-6E8A-4147-A177-3AD203B41FA5}">
                      <a16:colId xmlns:a16="http://schemas.microsoft.com/office/drawing/2014/main" val="3105399566"/>
                    </a:ext>
                  </a:extLst>
                </a:gridCol>
              </a:tblGrid>
              <a:tr h="1097872">
                <a:tc>
                  <a:txBody>
                    <a:bodyPr/>
                    <a:lstStyle/>
                    <a:p>
                      <a:pPr algn="l" rtl="0"/>
                      <a:r>
                        <a:rPr lang="en-US" sz="2000" b="1" kern="1200" dirty="0">
                          <a:solidFill>
                            <a:schemeClr val="tx2"/>
                          </a:solidFill>
                          <a:latin typeface="Courier New" panose="02070309020205020404" pitchFamily="49" charset="0"/>
                          <a:ea typeface="+mj-ea"/>
                          <a:cs typeface="Courier New" panose="02070309020205020404" pitchFamily="49" charset="0"/>
                        </a:rPr>
                        <a:t>Model</a:t>
                      </a:r>
                      <a:endParaRPr lang="ar-SA" sz="2000" b="1"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algn="l" rtl="0"/>
                      <a:r>
                        <a:rPr lang="en-US" sz="2000" b="1" kern="1200">
                          <a:solidFill>
                            <a:schemeClr val="tx2"/>
                          </a:solidFill>
                          <a:latin typeface="Courier New" panose="02070309020205020404" pitchFamily="49" charset="0"/>
                          <a:ea typeface="+mj-ea"/>
                          <a:cs typeface="Courier New" panose="02070309020205020404" pitchFamily="49" charset="0"/>
                        </a:rPr>
                        <a:t>Test Accuracy</a:t>
                      </a:r>
                    </a:p>
                  </a:txBody>
                  <a:tcPr marL="130256" marR="93040" marT="93040" marB="186080" anchor="ctr">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algn="l" rtl="0"/>
                      <a:r>
                        <a:rPr lang="en-US" sz="2000" b="1" kern="1200">
                          <a:solidFill>
                            <a:schemeClr val="tx2"/>
                          </a:solidFill>
                          <a:latin typeface="Courier New" panose="02070309020205020404" pitchFamily="49" charset="0"/>
                          <a:ea typeface="+mj-ea"/>
                          <a:cs typeface="Courier New" panose="02070309020205020404" pitchFamily="49" charset="0"/>
                        </a:rPr>
                        <a:t>Test F1</a:t>
                      </a:r>
                    </a:p>
                  </a:txBody>
                  <a:tcPr marL="130256" marR="93040" marT="93040" marB="186080" anchor="ctr">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algn="l" rtl="0"/>
                      <a:r>
                        <a:rPr lang="en-US" sz="2000" b="1" kern="1200">
                          <a:solidFill>
                            <a:schemeClr val="tx2"/>
                          </a:solidFill>
                          <a:latin typeface="Courier New" panose="02070309020205020404" pitchFamily="49" charset="0"/>
                          <a:ea typeface="+mj-ea"/>
                          <a:cs typeface="Courier New" panose="02070309020205020404" pitchFamily="49" charset="0"/>
                        </a:rPr>
                        <a:t>Training Time</a:t>
                      </a:r>
                    </a:p>
                  </a:txBody>
                  <a:tcPr marL="130256" marR="93040" marT="93040" marB="186080" anchor="ctr">
                    <a:lnL w="12700" cmpd="sng">
                      <a:noFill/>
                      <a:prstDash val="solid"/>
                    </a:lnL>
                    <a:lnR w="12700" cmpd="sng">
                      <a:noFill/>
                      <a:prstDash val="solid"/>
                    </a:lnR>
                    <a:lnT w="12700" cap="flat" cmpd="sng" algn="ctr">
                      <a:solidFill>
                        <a:schemeClr val="tx1"/>
                      </a:solidFill>
                      <a:prstDash val="solid"/>
                    </a:lnT>
                    <a:lnB w="12700" cmpd="sng">
                      <a:noFill/>
                      <a:prstDash val="solid"/>
                    </a:lnB>
                    <a:noFill/>
                  </a:tcPr>
                </a:tc>
                <a:tc>
                  <a:txBody>
                    <a:bodyPr/>
                    <a:lstStyle/>
                    <a:p>
                      <a:pPr algn="l" rtl="0"/>
                      <a:r>
                        <a:rPr lang="en-US" sz="2000" b="1" kern="1200" dirty="0">
                          <a:solidFill>
                            <a:schemeClr val="tx2"/>
                          </a:solidFill>
                          <a:latin typeface="Courier New" panose="02070309020205020404" pitchFamily="49" charset="0"/>
                          <a:ea typeface="+mj-ea"/>
                          <a:cs typeface="Courier New" panose="02070309020205020404" pitchFamily="49" charset="0"/>
                        </a:rPr>
                        <a:t>Model Size/Speed</a:t>
                      </a:r>
                    </a:p>
                  </a:txBody>
                  <a:tcPr marL="130256" marR="93040" marT="93040" marB="186080" anchor="ctr">
                    <a:lnL w="12700" cmpd="sng">
                      <a:noFill/>
                      <a:prstDash val="solid"/>
                    </a:lnL>
                    <a:lnR w="12700" cmpd="sng">
                      <a:noFill/>
                      <a:prstDash val="solid"/>
                    </a:lnR>
                    <a:lnT w="12700" cap="flat" cmpd="sng" algn="ctr">
                      <a:solidFill>
                        <a:schemeClr val="tx1"/>
                      </a:solidFill>
                      <a:prstDash val="solid"/>
                    </a:lnT>
                    <a:lnB w="12700" cmpd="sng">
                      <a:noFill/>
                      <a:prstDash val="solid"/>
                    </a:lnB>
                    <a:noFill/>
                  </a:tcPr>
                </a:tc>
                <a:extLst>
                  <a:ext uri="{0D108BD9-81ED-4DB2-BD59-A6C34878D82A}">
                    <a16:rowId xmlns:a16="http://schemas.microsoft.com/office/drawing/2014/main" val="1862126997"/>
                  </a:ext>
                </a:extLst>
              </a:tr>
              <a:tr h="725712">
                <a:tc>
                  <a:txBody>
                    <a:bodyPr/>
                    <a:lstStyle/>
                    <a:p>
                      <a:pPr algn="l" rtl="0"/>
                      <a:r>
                        <a:rPr lang="en-US" sz="2000" b="1" kern="1200" dirty="0" err="1">
                          <a:solidFill>
                            <a:schemeClr val="tx2"/>
                          </a:solidFill>
                          <a:latin typeface="Courier New" panose="02070309020205020404" pitchFamily="49" charset="0"/>
                          <a:ea typeface="+mj-ea"/>
                          <a:cs typeface="Courier New" panose="02070309020205020404" pitchFamily="49" charset="0"/>
                        </a:rPr>
                        <a:t>DistilBERT</a:t>
                      </a:r>
                      <a:endParaRPr lang="en-US" sz="2000" b="1"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dirty="0">
                          <a:solidFill>
                            <a:schemeClr val="tx2"/>
                          </a:solidFill>
                          <a:latin typeface="Courier New" panose="02070309020205020404" pitchFamily="49" charset="0"/>
                          <a:ea typeface="+mj-ea"/>
                          <a:cs typeface="Courier New" panose="02070309020205020404" pitchFamily="49" charset="0"/>
                        </a:rPr>
                        <a:t>%99.40</a:t>
                      </a:r>
                      <a:endParaRPr lang="ar-SA" sz="2000" b="0"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dirty="0">
                          <a:solidFill>
                            <a:schemeClr val="tx2"/>
                          </a:solidFill>
                          <a:latin typeface="Courier New" panose="02070309020205020404" pitchFamily="49" charset="0"/>
                          <a:ea typeface="+mj-ea"/>
                          <a:cs typeface="Courier New" panose="02070309020205020404" pitchFamily="49" charset="0"/>
                        </a:rPr>
                        <a:t>%99.40</a:t>
                      </a:r>
                      <a:endParaRPr lang="ar-SA" sz="2000" b="0"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a:solidFill>
                            <a:schemeClr val="tx2"/>
                          </a:solidFill>
                          <a:latin typeface="Courier New" panose="02070309020205020404" pitchFamily="49" charset="0"/>
                          <a:ea typeface="+mj-ea"/>
                          <a:cs typeface="Courier New" panose="02070309020205020404" pitchFamily="49" charset="0"/>
                        </a:rPr>
                        <a:t>~533s</a:t>
                      </a: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dirty="0">
                          <a:solidFill>
                            <a:schemeClr val="tx2"/>
                          </a:solidFill>
                          <a:latin typeface="Courier New" panose="02070309020205020404" pitchFamily="49" charset="0"/>
                          <a:ea typeface="+mj-ea"/>
                          <a:cs typeface="Courier New" panose="02070309020205020404" pitchFamily="49" charset="0"/>
                        </a:rPr>
                        <a:t>Lighter and faster</a:t>
                      </a:r>
                      <a:endParaRPr lang="ar-SA" sz="2000" b="0"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793874935"/>
                  </a:ext>
                </a:extLst>
              </a:tr>
              <a:tr h="1097872">
                <a:tc>
                  <a:txBody>
                    <a:bodyPr/>
                    <a:lstStyle/>
                    <a:p>
                      <a:pPr algn="l" rtl="0"/>
                      <a:r>
                        <a:rPr lang="en-US" sz="2000" b="1" kern="1200" dirty="0">
                          <a:solidFill>
                            <a:schemeClr val="tx2"/>
                          </a:solidFill>
                          <a:latin typeface="Courier New" panose="02070309020205020404" pitchFamily="49" charset="0"/>
                          <a:ea typeface="+mj-ea"/>
                          <a:cs typeface="Courier New" panose="02070309020205020404" pitchFamily="49" charset="0"/>
                        </a:rPr>
                        <a:t>BERT</a:t>
                      </a: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dirty="0">
                          <a:solidFill>
                            <a:schemeClr val="tx2"/>
                          </a:solidFill>
                          <a:latin typeface="Courier New" panose="02070309020205020404" pitchFamily="49" charset="0"/>
                          <a:ea typeface="+mj-ea"/>
                          <a:cs typeface="Courier New" panose="02070309020205020404" pitchFamily="49" charset="0"/>
                        </a:rPr>
                        <a:t>%99.25</a:t>
                      </a:r>
                      <a:endParaRPr lang="ar-SA" sz="2000" b="0"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dirty="0">
                          <a:solidFill>
                            <a:schemeClr val="tx2"/>
                          </a:solidFill>
                          <a:latin typeface="Courier New" panose="02070309020205020404" pitchFamily="49" charset="0"/>
                          <a:ea typeface="+mj-ea"/>
                          <a:cs typeface="Courier New" panose="02070309020205020404" pitchFamily="49" charset="0"/>
                        </a:rPr>
                        <a:t>%99.25</a:t>
                      </a:r>
                      <a:endParaRPr lang="ar-SA" sz="2000" b="0"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dirty="0">
                          <a:solidFill>
                            <a:schemeClr val="tx2"/>
                          </a:solidFill>
                          <a:latin typeface="Courier New" panose="02070309020205020404" pitchFamily="49" charset="0"/>
                          <a:ea typeface="+mj-ea"/>
                          <a:cs typeface="Courier New" panose="02070309020205020404" pitchFamily="49" charset="0"/>
                        </a:rPr>
                        <a:t>~787s</a:t>
                      </a: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dirty="0">
                          <a:solidFill>
                            <a:schemeClr val="tx2"/>
                          </a:solidFill>
                          <a:latin typeface="Courier New" panose="02070309020205020404" pitchFamily="49" charset="0"/>
                          <a:ea typeface="+mj-ea"/>
                          <a:cs typeface="Courier New" panose="02070309020205020404" pitchFamily="49" charset="0"/>
                        </a:rPr>
                        <a:t>Slower than </a:t>
                      </a:r>
                      <a:r>
                        <a:rPr lang="en-US" sz="2000" b="0" kern="1200" dirty="0" err="1">
                          <a:solidFill>
                            <a:schemeClr val="tx2"/>
                          </a:solidFill>
                          <a:latin typeface="Courier New" panose="02070309020205020404" pitchFamily="49" charset="0"/>
                          <a:ea typeface="+mj-ea"/>
                          <a:cs typeface="Courier New" panose="02070309020205020404" pitchFamily="49" charset="0"/>
                        </a:rPr>
                        <a:t>DistilBERT</a:t>
                      </a:r>
                      <a:endParaRPr lang="en-US" sz="2000" b="0"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114954341"/>
                  </a:ext>
                </a:extLst>
              </a:tr>
              <a:tr h="725712">
                <a:tc>
                  <a:txBody>
                    <a:bodyPr/>
                    <a:lstStyle/>
                    <a:p>
                      <a:pPr algn="l" rtl="0"/>
                      <a:r>
                        <a:rPr lang="en-US" sz="2000" b="1" kern="1200" dirty="0" err="1">
                          <a:solidFill>
                            <a:schemeClr val="tx2"/>
                          </a:solidFill>
                          <a:latin typeface="Courier New" panose="02070309020205020404" pitchFamily="49" charset="0"/>
                          <a:ea typeface="+mj-ea"/>
                          <a:cs typeface="Courier New" panose="02070309020205020404" pitchFamily="49" charset="0"/>
                        </a:rPr>
                        <a:t>DeBERTa</a:t>
                      </a:r>
                      <a:endParaRPr lang="en-US" sz="2000" b="1"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dirty="0">
                          <a:solidFill>
                            <a:schemeClr val="tx2"/>
                          </a:solidFill>
                          <a:latin typeface="Courier New" panose="02070309020205020404" pitchFamily="49" charset="0"/>
                          <a:ea typeface="+mj-ea"/>
                          <a:cs typeface="Courier New" panose="02070309020205020404" pitchFamily="49" charset="0"/>
                        </a:rPr>
                        <a:t>%96.06</a:t>
                      </a:r>
                      <a:endParaRPr lang="ar-SA" sz="2000" b="0"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dirty="0">
                          <a:solidFill>
                            <a:schemeClr val="tx2"/>
                          </a:solidFill>
                          <a:latin typeface="Courier New" panose="02070309020205020404" pitchFamily="49" charset="0"/>
                          <a:ea typeface="+mj-ea"/>
                          <a:cs typeface="Courier New" panose="02070309020205020404" pitchFamily="49" charset="0"/>
                        </a:rPr>
                        <a:t>%96.05</a:t>
                      </a:r>
                      <a:endParaRPr lang="ar-SA" sz="2000" b="0"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a:solidFill>
                            <a:schemeClr val="tx2"/>
                          </a:solidFill>
                          <a:latin typeface="Courier New" panose="02070309020205020404" pitchFamily="49" charset="0"/>
                          <a:ea typeface="+mj-ea"/>
                          <a:cs typeface="Courier New" panose="02070309020205020404" pitchFamily="49" charset="0"/>
                        </a:rPr>
                        <a:t>~1057s</a:t>
                      </a: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rtl="0"/>
                      <a:r>
                        <a:rPr lang="en-US" sz="2000" b="0" kern="1200">
                          <a:solidFill>
                            <a:schemeClr val="tx2"/>
                          </a:solidFill>
                          <a:latin typeface="Courier New" panose="02070309020205020404" pitchFamily="49" charset="0"/>
                          <a:ea typeface="+mj-ea"/>
                          <a:cs typeface="Courier New" panose="02070309020205020404" pitchFamily="49" charset="0"/>
                        </a:rPr>
                        <a:t>Slower and more complex</a:t>
                      </a:r>
                      <a:endParaRPr lang="ar-SA" sz="2000" b="0" kern="1200" dirty="0">
                        <a:solidFill>
                          <a:schemeClr val="tx2"/>
                        </a:solidFill>
                        <a:latin typeface="Courier New" panose="02070309020205020404" pitchFamily="49" charset="0"/>
                        <a:ea typeface="+mj-ea"/>
                        <a:cs typeface="Courier New" panose="02070309020205020404" pitchFamily="49" charset="0"/>
                      </a:endParaRPr>
                    </a:p>
                  </a:txBody>
                  <a:tcPr marL="130256" marR="93040" marT="93040" marB="18608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186287232"/>
                  </a:ext>
                </a:extLst>
              </a:tr>
            </a:tbl>
          </a:graphicData>
        </a:graphic>
      </p:graphicFrame>
      <p:sp>
        <p:nvSpPr>
          <p:cNvPr id="5" name="Rectangle 1">
            <a:extLst>
              <a:ext uri="{FF2B5EF4-FFF2-40B4-BE49-F238E27FC236}">
                <a16:creationId xmlns:a16="http://schemas.microsoft.com/office/drawing/2014/main" id="{A6956D83-D40B-E935-F489-C0FC18DDF710}"/>
              </a:ext>
            </a:extLst>
          </p:cNvPr>
          <p:cNvSpPr>
            <a:spLocks noChangeArrowheads="1"/>
          </p:cNvSpPr>
          <p:nvPr/>
        </p:nvSpPr>
        <p:spPr bwMode="auto">
          <a:xfrm>
            <a:off x="1436711" y="629388"/>
            <a:ext cx="93185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lang="en-US" altLang="ar-SA" sz="3200" b="1" dirty="0">
                <a:solidFill>
                  <a:schemeClr val="tx2"/>
                </a:solidFill>
                <a:latin typeface="Courier New" panose="02070309020205020404" pitchFamily="49" charset="0"/>
                <a:ea typeface="+mj-ea"/>
                <a:cs typeface="Courier New" panose="02070309020205020404" pitchFamily="49" charset="0"/>
              </a:rPr>
              <a:t>Compared </a:t>
            </a:r>
            <a:r>
              <a:rPr lang="en-US" altLang="ar-SA" sz="3200" b="1" dirty="0" err="1">
                <a:solidFill>
                  <a:schemeClr val="tx2"/>
                </a:solidFill>
                <a:latin typeface="Courier New" panose="02070309020205020404" pitchFamily="49" charset="0"/>
                <a:ea typeface="+mj-ea"/>
                <a:cs typeface="Courier New" panose="02070309020205020404" pitchFamily="49" charset="0"/>
              </a:rPr>
              <a:t>DistilBERT</a:t>
            </a:r>
            <a:r>
              <a:rPr lang="en-US" altLang="ar-SA" sz="3200" b="1" dirty="0">
                <a:solidFill>
                  <a:schemeClr val="tx2"/>
                </a:solidFill>
                <a:latin typeface="Courier New" panose="02070309020205020404" pitchFamily="49" charset="0"/>
                <a:ea typeface="+mj-ea"/>
                <a:cs typeface="Courier New" panose="02070309020205020404" pitchFamily="49" charset="0"/>
              </a:rPr>
              <a:t>, BERT and </a:t>
            </a:r>
            <a:r>
              <a:rPr lang="en-US" altLang="ar-SA" sz="3200" b="1" dirty="0" err="1">
                <a:solidFill>
                  <a:schemeClr val="tx2"/>
                </a:solidFill>
                <a:latin typeface="Courier New" panose="02070309020205020404" pitchFamily="49" charset="0"/>
                <a:ea typeface="+mj-ea"/>
                <a:cs typeface="Courier New" panose="02070309020205020404" pitchFamily="49" charset="0"/>
              </a:rPr>
              <a:t>DeBERTa</a:t>
            </a:r>
            <a:endParaRPr lang="ar-SA" altLang="ar-SA" sz="3200" b="1" dirty="0">
              <a:solidFill>
                <a:schemeClr val="tx2"/>
              </a:solidFill>
              <a:latin typeface="Courier New" panose="02070309020205020404" pitchFamily="49" charset="0"/>
              <a:ea typeface="+mj-ea"/>
              <a:cs typeface="Courier New" panose="02070309020205020404" pitchFamily="49" charset="0"/>
            </a:endParaRPr>
          </a:p>
        </p:txBody>
      </p:sp>
    </p:spTree>
    <p:extLst>
      <p:ext uri="{BB962C8B-B14F-4D97-AF65-F5344CB8AC3E}">
        <p14:creationId xmlns:p14="http://schemas.microsoft.com/office/powerpoint/2010/main" val="4176074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C5EFB62-433C-3072-3494-8173FF5A618E}"/>
              </a:ext>
            </a:extLst>
          </p:cNvPr>
          <p:cNvSpPr>
            <a:spLocks noGrp="1"/>
          </p:cNvSpPr>
          <p:nvPr>
            <p:ph type="title"/>
          </p:nvPr>
        </p:nvSpPr>
        <p:spPr>
          <a:xfrm>
            <a:off x="371094" y="1161288"/>
            <a:ext cx="3438144" cy="1239012"/>
          </a:xfrm>
        </p:spPr>
        <p:txBody>
          <a:bodyPr anchor="ctr">
            <a:normAutofit/>
          </a:bodyPr>
          <a:lstStyle/>
          <a:p>
            <a:r>
              <a:rPr lang="en-US" sz="2800" b="1" dirty="0" err="1"/>
              <a:t>DistilBERT</a:t>
            </a:r>
            <a:endParaRPr lang="ar-SA" sz="2800" b="1" dirty="0"/>
          </a:p>
        </p:txBody>
      </p:sp>
      <p:sp>
        <p:nvSpPr>
          <p:cNvPr id="3" name="عنصر نائب للمحتوى 2">
            <a:extLst>
              <a:ext uri="{FF2B5EF4-FFF2-40B4-BE49-F238E27FC236}">
                <a16:creationId xmlns:a16="http://schemas.microsoft.com/office/drawing/2014/main" id="{4B89AB12-561B-8688-CA55-140F8127FA22}"/>
              </a:ext>
            </a:extLst>
          </p:cNvPr>
          <p:cNvSpPr>
            <a:spLocks noGrp="1"/>
          </p:cNvSpPr>
          <p:nvPr>
            <p:ph idx="1"/>
          </p:nvPr>
        </p:nvSpPr>
        <p:spPr>
          <a:xfrm>
            <a:off x="371094" y="2718054"/>
            <a:ext cx="3438906" cy="3207258"/>
          </a:xfrm>
        </p:spPr>
        <p:txBody>
          <a:bodyPr anchor="t">
            <a:normAutofit/>
          </a:bodyPr>
          <a:lstStyle/>
          <a:p>
            <a:r>
              <a:rPr lang="en-US" sz="2000" dirty="0"/>
              <a:t>The results I got from training the model demonstrate very high performance in sentiment classification.</a:t>
            </a:r>
            <a:endParaRPr lang="ar-SA" sz="2000" dirty="0"/>
          </a:p>
        </p:txBody>
      </p:sp>
      <p:graphicFrame>
        <p:nvGraphicFramePr>
          <p:cNvPr id="9" name="مربع نص 6">
            <a:extLst>
              <a:ext uri="{FF2B5EF4-FFF2-40B4-BE49-F238E27FC236}">
                <a16:creationId xmlns:a16="http://schemas.microsoft.com/office/drawing/2014/main" id="{AD20AD60-2321-6A7C-E53C-9B7B152C14B2}"/>
              </a:ext>
            </a:extLst>
          </p:cNvPr>
          <p:cNvGraphicFramePr/>
          <p:nvPr/>
        </p:nvGraphicFramePr>
        <p:xfrm>
          <a:off x="4350216" y="2313374"/>
          <a:ext cx="7846356" cy="22312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4587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DCA3B362-8F5F-D49C-1FA1-63986E50B1D7}"/>
              </a:ext>
            </a:extLst>
          </p:cNvPr>
          <p:cNvSpPr>
            <a:spLocks noGrp="1"/>
          </p:cNvSpPr>
          <p:nvPr>
            <p:ph type="title"/>
          </p:nvPr>
        </p:nvSpPr>
        <p:spPr>
          <a:xfrm>
            <a:off x="0" y="2701974"/>
            <a:ext cx="4977976" cy="1454051"/>
          </a:xfrm>
        </p:spPr>
        <p:txBody>
          <a:bodyPr>
            <a:normAutofit/>
          </a:bodyPr>
          <a:lstStyle/>
          <a:p>
            <a:r>
              <a:rPr lang="en-US" sz="3600" b="1" dirty="0">
                <a:solidFill>
                  <a:schemeClr val="tx2"/>
                </a:solidFill>
              </a:rPr>
              <a:t>Classification Report:</a:t>
            </a:r>
            <a:endParaRPr lang="ar-SA" sz="3600" b="1" dirty="0">
              <a:solidFill>
                <a:schemeClr val="tx2"/>
              </a:solidFill>
            </a:endParaRPr>
          </a:p>
        </p:txBody>
      </p:sp>
      <p:sp>
        <p:nvSpPr>
          <p:cNvPr id="3" name="عنصر نائب للمحتوى 2">
            <a:extLst>
              <a:ext uri="{FF2B5EF4-FFF2-40B4-BE49-F238E27FC236}">
                <a16:creationId xmlns:a16="http://schemas.microsoft.com/office/drawing/2014/main" id="{90ECFE4E-0B21-A4D5-6A22-39C2FA1594B0}"/>
              </a:ext>
            </a:extLst>
          </p:cNvPr>
          <p:cNvSpPr>
            <a:spLocks noGrp="1"/>
          </p:cNvSpPr>
          <p:nvPr>
            <p:ph idx="1"/>
          </p:nvPr>
        </p:nvSpPr>
        <p:spPr>
          <a:xfrm>
            <a:off x="4115185" y="884902"/>
            <a:ext cx="8074180" cy="5604388"/>
          </a:xfrm>
        </p:spPr>
        <p:txBody>
          <a:bodyPr anchor="ctr">
            <a:noAutofit/>
          </a:bodyPr>
          <a:lstStyle/>
          <a:p>
            <a:r>
              <a:rPr lang="en-US" sz="1800" b="1" dirty="0">
                <a:solidFill>
                  <a:schemeClr val="tx2"/>
                </a:solidFill>
              </a:rPr>
              <a:t>                precision    recall  f1-score   support</a:t>
            </a:r>
          </a:p>
          <a:p>
            <a:endParaRPr lang="en-US" sz="1800" b="1" dirty="0">
              <a:solidFill>
                <a:schemeClr val="tx2"/>
              </a:solidFill>
            </a:endParaRPr>
          </a:p>
          <a:p>
            <a:r>
              <a:rPr lang="en-US" sz="1800" b="1" dirty="0">
                <a:solidFill>
                  <a:schemeClr val="tx2"/>
                </a:solidFill>
              </a:rPr>
              <a:t>           0       1.00      1.00      1.00      5109</a:t>
            </a:r>
          </a:p>
          <a:p>
            <a:r>
              <a:rPr lang="en-US" sz="1800" b="1" dirty="0">
                <a:solidFill>
                  <a:schemeClr val="tx2"/>
                </a:solidFill>
              </a:rPr>
              <a:t>           1       0.99      1.00      0.99      5109</a:t>
            </a:r>
          </a:p>
          <a:p>
            <a:r>
              <a:rPr lang="en-US" sz="1800" b="1" dirty="0">
                <a:solidFill>
                  <a:schemeClr val="tx2"/>
                </a:solidFill>
              </a:rPr>
              <a:t>           2       1.00      0.98      0.99      5109</a:t>
            </a:r>
          </a:p>
          <a:p>
            <a:endParaRPr lang="en-US" sz="1800" b="1" dirty="0">
              <a:solidFill>
                <a:schemeClr val="tx2"/>
              </a:solidFill>
            </a:endParaRPr>
          </a:p>
          <a:p>
            <a:r>
              <a:rPr lang="en-US" sz="1800" b="1" dirty="0">
                <a:solidFill>
                  <a:schemeClr val="tx2"/>
                </a:solidFill>
              </a:rPr>
              <a:t>    accuracy                           0.99     15327</a:t>
            </a:r>
          </a:p>
          <a:p>
            <a:r>
              <a:rPr lang="en-US" sz="1800" b="1" dirty="0">
                <a:solidFill>
                  <a:schemeClr val="tx2"/>
                </a:solidFill>
              </a:rPr>
              <a:t>   macro avg       0.99      0.99      0.99     15327</a:t>
            </a:r>
          </a:p>
          <a:p>
            <a:r>
              <a:rPr lang="en-US" sz="1800" b="1" dirty="0">
                <a:solidFill>
                  <a:schemeClr val="tx2"/>
                </a:solidFill>
              </a:rPr>
              <a:t>weighted avg       0.99      0.99      0.99     15327</a:t>
            </a:r>
            <a:endParaRPr lang="ar-SA" sz="1800" b="1"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06527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15" name="Rectangle 8214">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7" name="Rectangle 8216">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6A53A5C4-C675-0244-345C-6118FF55559C}"/>
              </a:ext>
            </a:extLst>
          </p:cNvPr>
          <p:cNvSpPr>
            <a:spLocks noGrp="1"/>
          </p:cNvSpPr>
          <p:nvPr>
            <p:ph type="title"/>
          </p:nvPr>
        </p:nvSpPr>
        <p:spPr>
          <a:xfrm>
            <a:off x="7235151" y="2806938"/>
            <a:ext cx="4805996" cy="1297115"/>
          </a:xfrm>
        </p:spPr>
        <p:txBody>
          <a:bodyPr vert="horz" lIns="91440" tIns="45720" rIns="91440" bIns="45720" rtlCol="0" anchor="t">
            <a:normAutofit/>
          </a:bodyPr>
          <a:lstStyle/>
          <a:p>
            <a:pPr algn="ctr"/>
            <a:r>
              <a:rPr kumimoji="0" lang="en-US" altLang="ar-SA" sz="4000" b="1" i="0" u="none" strike="noStrike" kern="1200" cap="none" normalizeH="0" baseline="0" dirty="0">
                <a:ln>
                  <a:noFill/>
                </a:ln>
                <a:solidFill>
                  <a:schemeClr val="tx2"/>
                </a:solidFill>
                <a:effectLst/>
                <a:latin typeface="+mj-lt"/>
                <a:ea typeface="+mj-ea"/>
                <a:cs typeface="+mj-cs"/>
              </a:rPr>
              <a:t>Confusion Matrix </a:t>
            </a:r>
            <a:r>
              <a:rPr lang="en-US" sz="4000" b="1" kern="1200" dirty="0" err="1">
                <a:solidFill>
                  <a:schemeClr val="tx2"/>
                </a:solidFill>
                <a:latin typeface="+mj-lt"/>
                <a:ea typeface="+mj-ea"/>
                <a:cs typeface="+mj-cs"/>
              </a:rPr>
              <a:t>DistilBERT</a:t>
            </a:r>
            <a:endParaRPr lang="en-US" sz="4000" b="1" kern="1200" dirty="0">
              <a:solidFill>
                <a:schemeClr val="tx2"/>
              </a:solidFill>
              <a:latin typeface="+mj-lt"/>
              <a:ea typeface="+mj-ea"/>
              <a:cs typeface="+mj-cs"/>
            </a:endParaRPr>
          </a:p>
        </p:txBody>
      </p:sp>
      <p:grpSp>
        <p:nvGrpSpPr>
          <p:cNvPr id="8219" name="Group 8218">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1023" y="52996"/>
            <a:ext cx="6093363" cy="6805005"/>
            <a:chOff x="6101023" y="52996"/>
            <a:chExt cx="6093363" cy="6805005"/>
          </a:xfrm>
        </p:grpSpPr>
        <p:sp>
          <p:nvSpPr>
            <p:cNvPr id="8220" name="Freeform: Shape 8219">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1" name="Freeform: Shape 8220">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2" name="Freeform: Shape 8221">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23" name="Freeform: Shape 8222">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8194" name="Picture 2" descr="صورة تحتوي على نص, لقطة شاشة, رسم بياني, رقم&#10;&#10;قد يكون المحتوى المعد بواسطة الذكاء الاصطناعي غير صحيح.">
            <a:extLst>
              <a:ext uri="{FF2B5EF4-FFF2-40B4-BE49-F238E27FC236}">
                <a16:creationId xmlns:a16="http://schemas.microsoft.com/office/drawing/2014/main" id="{5C445BAF-C1C0-B330-8ABA-EE4678CFAF9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0853" y="767353"/>
            <a:ext cx="6477453" cy="5376286"/>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5623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عنصر نائب للمحتوى 2">
            <a:extLst>
              <a:ext uri="{FF2B5EF4-FFF2-40B4-BE49-F238E27FC236}">
                <a16:creationId xmlns:a16="http://schemas.microsoft.com/office/drawing/2014/main" id="{D40C2119-65A1-F7D1-4ABE-1D6E1A920017}"/>
              </a:ext>
            </a:extLst>
          </p:cNvPr>
          <p:cNvSpPr>
            <a:spLocks noGrp="1"/>
          </p:cNvSpPr>
          <p:nvPr>
            <p:ph idx="1"/>
          </p:nvPr>
        </p:nvSpPr>
        <p:spPr>
          <a:xfrm>
            <a:off x="1179226" y="1489587"/>
            <a:ext cx="9833548" cy="4297359"/>
          </a:xfrm>
        </p:spPr>
        <p:txBody>
          <a:bodyPr>
            <a:normAutofit/>
          </a:bodyPr>
          <a:lstStyle/>
          <a:p>
            <a:pPr>
              <a:buNone/>
            </a:pPr>
            <a:r>
              <a:rPr lang="en-US" sz="2400" b="1" dirty="0">
                <a:solidFill>
                  <a:schemeClr val="tx2"/>
                </a:solidFill>
              </a:rPr>
              <a:t>Conclusion:</a:t>
            </a:r>
          </a:p>
          <a:p>
            <a:pPr>
              <a:buNone/>
            </a:pPr>
            <a:r>
              <a:rPr lang="en-US" sz="2400" dirty="0">
                <a:solidFill>
                  <a:schemeClr val="tx2"/>
                </a:solidFill>
              </a:rPr>
              <a:t>The model is very robust and achieves near-perfect performance.</a:t>
            </a:r>
          </a:p>
          <a:p>
            <a:pPr>
              <a:buNone/>
            </a:pPr>
            <a:r>
              <a:rPr lang="en-US" sz="2400" dirty="0">
                <a:solidFill>
                  <a:schemeClr val="tx2"/>
                </a:solidFill>
              </a:rPr>
              <a:t>The accuracy and F1 are close, indicating that the model does not suffer from a bias toward a particular class.</a:t>
            </a:r>
          </a:p>
          <a:p>
            <a:pPr>
              <a:buNone/>
            </a:pPr>
            <a:r>
              <a:rPr lang="en-US" sz="2400" dirty="0">
                <a:solidFill>
                  <a:schemeClr val="tx2"/>
                </a:solidFill>
              </a:rPr>
              <a:t>The training is balanced, and the validation loss is steadily decreasing, meaning there is no obvious overfitting.</a:t>
            </a:r>
            <a:endParaRPr lang="ar-SA" sz="2400" dirty="0">
              <a:solidFill>
                <a:schemeClr val="tx2"/>
              </a:solidFill>
            </a:endParaRP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875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359EFA24-5726-2D32-4EE5-C9035668B20E}"/>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4FE3D87E-FCEE-AAA4-70AF-729359727D8B}"/>
              </a:ext>
            </a:extLst>
          </p:cNvPr>
          <p:cNvSpPr>
            <a:spLocks noGrp="1"/>
          </p:cNvSpPr>
          <p:nvPr>
            <p:ph type="title"/>
          </p:nvPr>
        </p:nvSpPr>
        <p:spPr>
          <a:xfrm>
            <a:off x="371094" y="1161288"/>
            <a:ext cx="3438144" cy="1239012"/>
          </a:xfrm>
        </p:spPr>
        <p:txBody>
          <a:bodyPr anchor="ctr">
            <a:normAutofit/>
          </a:bodyPr>
          <a:lstStyle/>
          <a:p>
            <a:r>
              <a:rPr lang="en-US" sz="4000" b="1" dirty="0"/>
              <a:t>Bert</a:t>
            </a:r>
            <a:endParaRPr lang="ar-SA" sz="2800" b="1" dirty="0"/>
          </a:p>
        </p:txBody>
      </p:sp>
      <p:sp>
        <p:nvSpPr>
          <p:cNvPr id="3" name="عنصر نائب للمحتوى 2">
            <a:extLst>
              <a:ext uri="{FF2B5EF4-FFF2-40B4-BE49-F238E27FC236}">
                <a16:creationId xmlns:a16="http://schemas.microsoft.com/office/drawing/2014/main" id="{AF997A61-3781-D37A-4F2B-68005845E65B}"/>
              </a:ext>
            </a:extLst>
          </p:cNvPr>
          <p:cNvSpPr>
            <a:spLocks noGrp="1"/>
          </p:cNvSpPr>
          <p:nvPr>
            <p:ph idx="1"/>
          </p:nvPr>
        </p:nvSpPr>
        <p:spPr>
          <a:xfrm>
            <a:off x="371094" y="2718054"/>
            <a:ext cx="3438906" cy="3207258"/>
          </a:xfrm>
        </p:spPr>
        <p:txBody>
          <a:bodyPr anchor="t">
            <a:normAutofit/>
          </a:bodyPr>
          <a:lstStyle/>
          <a:p>
            <a:r>
              <a:rPr lang="en-US" sz="2000" dirty="0"/>
              <a:t>The results I got after training the full BERT model are also amazing and provide a great opportunity to compare it with the previous </a:t>
            </a:r>
            <a:r>
              <a:rPr lang="en-US" sz="2000" dirty="0" err="1"/>
              <a:t>DistilBERT</a:t>
            </a:r>
            <a:r>
              <a:rPr lang="en-US" sz="2000" dirty="0"/>
              <a:t> model.</a:t>
            </a:r>
            <a:endParaRPr lang="ar-SA" sz="2000" dirty="0"/>
          </a:p>
        </p:txBody>
      </p:sp>
      <p:graphicFrame>
        <p:nvGraphicFramePr>
          <p:cNvPr id="10" name="مربع نص 6">
            <a:extLst>
              <a:ext uri="{FF2B5EF4-FFF2-40B4-BE49-F238E27FC236}">
                <a16:creationId xmlns:a16="http://schemas.microsoft.com/office/drawing/2014/main" id="{B9865C71-CDF5-C56A-3652-9E6FA4200E47}"/>
              </a:ext>
            </a:extLst>
          </p:cNvPr>
          <p:cNvGraphicFramePr/>
          <p:nvPr>
            <p:extLst>
              <p:ext uri="{D42A27DB-BD31-4B8C-83A1-F6EECF244321}">
                <p14:modId xmlns:p14="http://schemas.microsoft.com/office/powerpoint/2010/main" val="2900488367"/>
              </p:ext>
            </p:extLst>
          </p:nvPr>
        </p:nvGraphicFramePr>
        <p:xfrm>
          <a:off x="4222678" y="2242017"/>
          <a:ext cx="7701467" cy="23210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4053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A3551A64-E686-79E8-5E24-E8BCFA411E3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5332E0F-229E-479C-B075-D5623D728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E57ADA4-5294-81B3-36D8-BEA8067C1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09F90547-2D16-1CEF-039E-1CF9D2D230EF}"/>
              </a:ext>
            </a:extLst>
          </p:cNvPr>
          <p:cNvSpPr>
            <a:spLocks noGrp="1"/>
          </p:cNvSpPr>
          <p:nvPr>
            <p:ph type="title"/>
          </p:nvPr>
        </p:nvSpPr>
        <p:spPr>
          <a:xfrm>
            <a:off x="0" y="2701974"/>
            <a:ext cx="4977976" cy="1454051"/>
          </a:xfrm>
        </p:spPr>
        <p:txBody>
          <a:bodyPr>
            <a:normAutofit/>
          </a:bodyPr>
          <a:lstStyle/>
          <a:p>
            <a:r>
              <a:rPr lang="en-US" sz="3600" b="1" dirty="0">
                <a:solidFill>
                  <a:schemeClr val="tx2"/>
                </a:solidFill>
              </a:rPr>
              <a:t>Classification Report:</a:t>
            </a:r>
            <a:endParaRPr lang="ar-SA" sz="3600" b="1" dirty="0">
              <a:solidFill>
                <a:schemeClr val="tx2"/>
              </a:solidFill>
            </a:endParaRPr>
          </a:p>
        </p:txBody>
      </p:sp>
      <p:sp>
        <p:nvSpPr>
          <p:cNvPr id="3" name="عنصر نائب للمحتوى 2">
            <a:extLst>
              <a:ext uri="{FF2B5EF4-FFF2-40B4-BE49-F238E27FC236}">
                <a16:creationId xmlns:a16="http://schemas.microsoft.com/office/drawing/2014/main" id="{6BC8F9C1-1FC7-80DB-6E13-BBA5AE3E4E72}"/>
              </a:ext>
            </a:extLst>
          </p:cNvPr>
          <p:cNvSpPr>
            <a:spLocks noGrp="1"/>
          </p:cNvSpPr>
          <p:nvPr>
            <p:ph idx="1"/>
          </p:nvPr>
        </p:nvSpPr>
        <p:spPr>
          <a:xfrm>
            <a:off x="4115185" y="884902"/>
            <a:ext cx="8074180" cy="5604388"/>
          </a:xfrm>
        </p:spPr>
        <p:txBody>
          <a:bodyPr anchor="ctr">
            <a:noAutofit/>
          </a:bodyPr>
          <a:lstStyle/>
          <a:p>
            <a:endParaRPr lang="en-US" sz="1800" b="1" dirty="0">
              <a:solidFill>
                <a:schemeClr val="tx2"/>
              </a:solidFill>
            </a:endParaRPr>
          </a:p>
          <a:p>
            <a:r>
              <a:rPr lang="en-US" sz="1800" b="1" dirty="0">
                <a:solidFill>
                  <a:schemeClr val="tx2"/>
                </a:solidFill>
              </a:rPr>
              <a:t>               precision    recall  f1-score   support</a:t>
            </a:r>
          </a:p>
          <a:p>
            <a:endParaRPr lang="en-US" sz="1800" b="1" dirty="0">
              <a:solidFill>
                <a:schemeClr val="tx2"/>
              </a:solidFill>
            </a:endParaRPr>
          </a:p>
          <a:p>
            <a:r>
              <a:rPr lang="en-US" sz="1800" b="1" dirty="0">
                <a:solidFill>
                  <a:schemeClr val="tx2"/>
                </a:solidFill>
              </a:rPr>
              <a:t>           0       1.00      1.00      1.00      5109</a:t>
            </a:r>
          </a:p>
          <a:p>
            <a:r>
              <a:rPr lang="en-US" sz="1800" b="1" dirty="0">
                <a:solidFill>
                  <a:schemeClr val="tx2"/>
                </a:solidFill>
              </a:rPr>
              <a:t>           1       0.98      1.00      0.99      5109</a:t>
            </a:r>
          </a:p>
          <a:p>
            <a:r>
              <a:rPr lang="en-US" sz="1800" b="1" dirty="0">
                <a:solidFill>
                  <a:schemeClr val="tx2"/>
                </a:solidFill>
              </a:rPr>
              <a:t>           2       1.00      0.98      0.99      5109</a:t>
            </a:r>
          </a:p>
          <a:p>
            <a:endParaRPr lang="en-US" sz="1800" b="1" dirty="0">
              <a:solidFill>
                <a:schemeClr val="tx2"/>
              </a:solidFill>
            </a:endParaRPr>
          </a:p>
          <a:p>
            <a:r>
              <a:rPr lang="en-US" sz="1800" b="1" dirty="0">
                <a:solidFill>
                  <a:schemeClr val="tx2"/>
                </a:solidFill>
              </a:rPr>
              <a:t>    accuracy                           0.99     15327</a:t>
            </a:r>
          </a:p>
          <a:p>
            <a:r>
              <a:rPr lang="en-US" sz="1800" b="1" dirty="0">
                <a:solidFill>
                  <a:schemeClr val="tx2"/>
                </a:solidFill>
              </a:rPr>
              <a:t>   macro avg       0.99      0.99      0.99     15327</a:t>
            </a:r>
          </a:p>
          <a:p>
            <a:r>
              <a:rPr lang="en-US" sz="1800" b="1" dirty="0">
                <a:solidFill>
                  <a:schemeClr val="tx2"/>
                </a:solidFill>
              </a:rPr>
              <a:t>weighted avg       0.99      0.99      0.99     15327</a:t>
            </a:r>
            <a:endParaRPr lang="ar-SA" sz="1800" b="1" dirty="0">
              <a:solidFill>
                <a:schemeClr val="tx2"/>
              </a:solidFill>
            </a:endParaRPr>
          </a:p>
        </p:txBody>
      </p:sp>
      <p:grpSp>
        <p:nvGrpSpPr>
          <p:cNvPr id="14" name="Group 13">
            <a:extLst>
              <a:ext uri="{FF2B5EF4-FFF2-40B4-BE49-F238E27FC236}">
                <a16:creationId xmlns:a16="http://schemas.microsoft.com/office/drawing/2014/main" id="{2FF9E401-6EE4-2591-8EBE-356A9DF771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A6312DA5-F4BE-F10B-907F-480D8F0CF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8A0736-AFC5-FB90-9D9E-0EC4A5D95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F5A4C37-6486-77E5-4355-DA317CF8F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786804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9" name="Rectangle 10248">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51" name="Group 10250">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0252" name="Freeform: Shape 10251">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3" name="Freeform: Shape 10252">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4" name="Freeform: Shape 10253">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5" name="Freeform: Shape 10254">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42" name="Picture 2" descr="صورة تحتوي على نص, لقطة شاشة, رسم بياني, رقم&#10;&#10;قد يكون المحتوى المعد بواسطة الذكاء الاصطناعي غير صحيح.">
            <a:extLst>
              <a:ext uri="{FF2B5EF4-FFF2-40B4-BE49-F238E27FC236}">
                <a16:creationId xmlns:a16="http://schemas.microsoft.com/office/drawing/2014/main" id="{E4F58862-970D-8B8F-8C7E-8F5F7BD8A1A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52663" y="709085"/>
            <a:ext cx="6554013" cy="5439830"/>
          </a:xfrm>
          <a:prstGeom prst="rect">
            <a:avLst/>
          </a:prstGeom>
          <a:noFill/>
          <a:extLst>
            <a:ext uri="{909E8E84-426E-40DD-AFC4-6F175D3DCCD1}">
              <a14:hiddenFill xmlns:a14="http://schemas.microsoft.com/office/drawing/2010/main">
                <a:solidFill>
                  <a:srgbClr val="FFFFFF"/>
                </a:solidFill>
              </a14:hiddenFill>
            </a:ext>
          </a:extLst>
        </p:spPr>
      </p:pic>
      <p:sp>
        <p:nvSpPr>
          <p:cNvPr id="5" name="عنوان 1">
            <a:extLst>
              <a:ext uri="{FF2B5EF4-FFF2-40B4-BE49-F238E27FC236}">
                <a16:creationId xmlns:a16="http://schemas.microsoft.com/office/drawing/2014/main" id="{A7CF2658-33B8-8A18-B22F-2CE39B54937B}"/>
              </a:ext>
            </a:extLst>
          </p:cNvPr>
          <p:cNvSpPr txBox="1">
            <a:spLocks/>
          </p:cNvSpPr>
          <p:nvPr/>
        </p:nvSpPr>
        <p:spPr>
          <a:xfrm>
            <a:off x="7059034" y="2948645"/>
            <a:ext cx="4805996" cy="129711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Courier New" panose="02070309020205020404" pitchFamily="49" charset="0"/>
                <a:ea typeface="+mj-ea"/>
                <a:cs typeface="Courier New" panose="02070309020205020404" pitchFamily="49" charset="0"/>
              </a:defRPr>
            </a:lvl1pPr>
          </a:lstStyle>
          <a:p>
            <a:pPr algn="ctr"/>
            <a:r>
              <a:rPr lang="en-US" altLang="ar-SA" sz="4000" b="1" dirty="0">
                <a:solidFill>
                  <a:schemeClr val="tx2"/>
                </a:solidFill>
                <a:latin typeface="+mj-lt"/>
                <a:cs typeface="+mj-cs"/>
              </a:rPr>
              <a:t>Confusion Matrix </a:t>
            </a:r>
            <a:r>
              <a:rPr lang="en-US" sz="4000" b="1" dirty="0">
                <a:solidFill>
                  <a:schemeClr val="tx2"/>
                </a:solidFill>
                <a:latin typeface="+mj-lt"/>
                <a:cs typeface="+mj-cs"/>
              </a:rPr>
              <a:t>Bert</a:t>
            </a:r>
          </a:p>
        </p:txBody>
      </p:sp>
    </p:spTree>
    <p:extLst>
      <p:ext uri="{BB962C8B-B14F-4D97-AF65-F5344CB8AC3E}">
        <p14:creationId xmlns:p14="http://schemas.microsoft.com/office/powerpoint/2010/main" val="3108956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6178A2A-00A1-1D05-9018-B3E2125514F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790C8B8-B11B-954C-4885-0CE37B5AB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F3A35AB-273B-64D0-A724-59A8CA528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44AE3886-F3E4-6AF9-83D8-4BD1CA4D7B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16681B04-1AC9-8D37-F342-2E297855DE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B64634D-6142-BC46-B96B-C54F97F300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B911DFEA-C496-C8C6-420A-D7B7552DF2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B9C56BC9-0EB0-05E5-38DA-7D17675903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عنصر نائب للمحتوى 2">
            <a:extLst>
              <a:ext uri="{FF2B5EF4-FFF2-40B4-BE49-F238E27FC236}">
                <a16:creationId xmlns:a16="http://schemas.microsoft.com/office/drawing/2014/main" id="{C1407801-AEAE-C8F6-7589-0BDF2EF4817A}"/>
              </a:ext>
            </a:extLst>
          </p:cNvPr>
          <p:cNvSpPr>
            <a:spLocks noGrp="1"/>
          </p:cNvSpPr>
          <p:nvPr>
            <p:ph idx="1"/>
          </p:nvPr>
        </p:nvSpPr>
        <p:spPr>
          <a:xfrm>
            <a:off x="1179226" y="1312607"/>
            <a:ext cx="9833548" cy="4474340"/>
          </a:xfrm>
        </p:spPr>
        <p:txBody>
          <a:bodyPr>
            <a:normAutofit/>
          </a:bodyPr>
          <a:lstStyle/>
          <a:p>
            <a:pPr>
              <a:lnSpc>
                <a:spcPct val="100000"/>
              </a:lnSpc>
              <a:buNone/>
            </a:pPr>
            <a:r>
              <a:rPr lang="en-US" sz="2400" b="1" dirty="0">
                <a:solidFill>
                  <a:schemeClr val="tx2"/>
                </a:solidFill>
              </a:rPr>
              <a:t>Overall Conclusion:</a:t>
            </a:r>
          </a:p>
          <a:p>
            <a:pPr>
              <a:lnSpc>
                <a:spcPct val="100000"/>
              </a:lnSpc>
              <a:buNone/>
            </a:pPr>
            <a:r>
              <a:rPr lang="en-US" sz="2400" dirty="0">
                <a:solidFill>
                  <a:schemeClr val="tx2"/>
                </a:solidFill>
              </a:rPr>
              <a:t>BERT performed slightly better in Validation Accuracy, but </a:t>
            </a:r>
            <a:r>
              <a:rPr lang="en-US" sz="2400" dirty="0" err="1">
                <a:solidFill>
                  <a:schemeClr val="tx2"/>
                </a:solidFill>
              </a:rPr>
              <a:t>DistilBERT</a:t>
            </a:r>
            <a:r>
              <a:rPr lang="en-US" sz="2400" dirty="0">
                <a:solidFill>
                  <a:schemeClr val="tx2"/>
                </a:solidFill>
              </a:rPr>
              <a:t> performed slightly better in Test Accuracy and had a faster training </a:t>
            </a:r>
            <a:r>
              <a:rPr lang="en-US" sz="2400" dirty="0" err="1">
                <a:solidFill>
                  <a:schemeClr val="tx2"/>
                </a:solidFill>
              </a:rPr>
              <a:t>time.The</a:t>
            </a:r>
            <a:r>
              <a:rPr lang="en-US" sz="2400" dirty="0">
                <a:solidFill>
                  <a:schemeClr val="tx2"/>
                </a:solidFill>
              </a:rPr>
              <a:t> difference between the two models is very small in terms of accuracy, but </a:t>
            </a:r>
            <a:r>
              <a:rPr lang="en-US" sz="2400" dirty="0" err="1">
                <a:solidFill>
                  <a:schemeClr val="tx2"/>
                </a:solidFill>
              </a:rPr>
              <a:t>DistilBERT</a:t>
            </a:r>
            <a:r>
              <a:rPr lang="en-US" sz="2400" dirty="0">
                <a:solidFill>
                  <a:schemeClr val="tx2"/>
                </a:solidFill>
              </a:rPr>
              <a:t> is faster and lighter, so it is often preferred for productivity or when resources are </a:t>
            </a:r>
            <a:r>
              <a:rPr lang="en-US" sz="2400" dirty="0" err="1">
                <a:solidFill>
                  <a:schemeClr val="tx2"/>
                </a:solidFill>
              </a:rPr>
              <a:t>limited.BERT</a:t>
            </a:r>
            <a:r>
              <a:rPr lang="en-US" sz="2400" dirty="0">
                <a:solidFill>
                  <a:schemeClr val="tx2"/>
                </a:solidFill>
              </a:rPr>
              <a:t> is slightly more powerful but takes longer and consumes more resources.</a:t>
            </a:r>
          </a:p>
        </p:txBody>
      </p:sp>
      <p:grpSp>
        <p:nvGrpSpPr>
          <p:cNvPr id="18" name="Group 17">
            <a:extLst>
              <a:ext uri="{FF2B5EF4-FFF2-40B4-BE49-F238E27FC236}">
                <a16:creationId xmlns:a16="http://schemas.microsoft.com/office/drawing/2014/main" id="{54DC9F2D-1044-47FD-F36A-16288D791C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C750339E-32A4-A805-AB4E-73377E790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C2A0A2E-2602-857A-0F0B-28B672E094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B009C07-4B1F-0CAB-7611-8C1D2E64B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347713CE-9187-A55C-12DB-33C45D098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15458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E397A1F4-13AE-B867-523F-3E194E97E4D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07EF697-F8AD-E299-56B9-9E1105E21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01EBDF2-4969-6810-84C0-68A266494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683857E7-134C-C7D8-137D-3C36B4BBA70A}"/>
              </a:ext>
            </a:extLst>
          </p:cNvPr>
          <p:cNvSpPr>
            <a:spLocks noGrp="1"/>
          </p:cNvSpPr>
          <p:nvPr>
            <p:ph type="title"/>
          </p:nvPr>
        </p:nvSpPr>
        <p:spPr>
          <a:xfrm>
            <a:off x="0" y="1769806"/>
            <a:ext cx="4977976" cy="2386219"/>
          </a:xfrm>
        </p:spPr>
        <p:txBody>
          <a:bodyPr>
            <a:normAutofit fontScale="90000"/>
          </a:bodyPr>
          <a:lstStyle/>
          <a:p>
            <a:r>
              <a:rPr lang="en-US" sz="4800" b="0" dirty="0" err="1">
                <a:solidFill>
                  <a:schemeClr val="accent1">
                    <a:lumMod val="50000"/>
                  </a:schemeClr>
                </a:solidFill>
                <a:effectLst/>
                <a:latin typeface="Courier New" panose="02070309020205020404" pitchFamily="49" charset="0"/>
                <a:cs typeface="Courier New" panose="02070309020205020404" pitchFamily="49" charset="0"/>
              </a:rPr>
              <a:t>DeBERTa</a:t>
            </a:r>
            <a:r>
              <a:rPr lang="en-US" sz="4800" b="0" dirty="0">
                <a:solidFill>
                  <a:srgbClr val="A31515"/>
                </a:solidFill>
                <a:effectLst/>
                <a:latin typeface="Courier New" panose="02070309020205020404" pitchFamily="49" charset="0"/>
                <a:cs typeface="Courier New" panose="02070309020205020404" pitchFamily="49" charset="0"/>
              </a:rPr>
              <a:t> </a:t>
            </a:r>
            <a:br>
              <a:rPr lang="en-US" sz="4800" b="0" dirty="0">
                <a:solidFill>
                  <a:srgbClr val="A31515"/>
                </a:solidFill>
                <a:effectLst/>
                <a:latin typeface="Courier New" panose="02070309020205020404" pitchFamily="49" charset="0"/>
                <a:cs typeface="Courier New" panose="02070309020205020404" pitchFamily="49" charset="0"/>
              </a:rPr>
            </a:br>
            <a:br>
              <a:rPr lang="en-US" sz="4800" b="0" dirty="0">
                <a:solidFill>
                  <a:srgbClr val="A31515"/>
                </a:solidFill>
                <a:effectLst/>
                <a:latin typeface="Courier New" panose="02070309020205020404" pitchFamily="49" charset="0"/>
                <a:cs typeface="Courier New" panose="02070309020205020404" pitchFamily="49" charset="0"/>
              </a:rPr>
            </a:br>
            <a:r>
              <a:rPr lang="en-US" sz="3600" b="1" dirty="0">
                <a:solidFill>
                  <a:schemeClr val="tx2"/>
                </a:solidFill>
              </a:rPr>
              <a:t>Classification Report:</a:t>
            </a:r>
            <a:endParaRPr lang="ar-SA" sz="3600" b="1" dirty="0">
              <a:solidFill>
                <a:schemeClr val="tx2"/>
              </a:solidFill>
            </a:endParaRPr>
          </a:p>
        </p:txBody>
      </p:sp>
      <p:sp>
        <p:nvSpPr>
          <p:cNvPr id="3" name="عنصر نائب للمحتوى 2">
            <a:extLst>
              <a:ext uri="{FF2B5EF4-FFF2-40B4-BE49-F238E27FC236}">
                <a16:creationId xmlns:a16="http://schemas.microsoft.com/office/drawing/2014/main" id="{F36BA1C4-EFFC-E4A8-2E6F-0B8DFE669CE9}"/>
              </a:ext>
            </a:extLst>
          </p:cNvPr>
          <p:cNvSpPr>
            <a:spLocks noGrp="1"/>
          </p:cNvSpPr>
          <p:nvPr>
            <p:ph idx="1"/>
          </p:nvPr>
        </p:nvSpPr>
        <p:spPr>
          <a:xfrm>
            <a:off x="4115185" y="884902"/>
            <a:ext cx="8074180" cy="5604388"/>
          </a:xfrm>
        </p:spPr>
        <p:txBody>
          <a:bodyPr anchor="ctr">
            <a:noAutofit/>
          </a:bodyPr>
          <a:lstStyle/>
          <a:p>
            <a:endParaRPr lang="en-US" sz="1800" b="1" dirty="0">
              <a:solidFill>
                <a:schemeClr val="tx2"/>
              </a:solidFill>
            </a:endParaRPr>
          </a:p>
          <a:p>
            <a:r>
              <a:rPr lang="en-US" sz="1800" b="1" dirty="0">
                <a:solidFill>
                  <a:schemeClr val="tx2"/>
                </a:solidFill>
              </a:rPr>
              <a:t>                precision    recall  f1-score   support</a:t>
            </a:r>
          </a:p>
          <a:p>
            <a:endParaRPr lang="en-US" sz="1800" b="1" dirty="0">
              <a:solidFill>
                <a:schemeClr val="tx2"/>
              </a:solidFill>
            </a:endParaRPr>
          </a:p>
          <a:p>
            <a:r>
              <a:rPr lang="en-US" sz="1800" b="1" dirty="0">
                <a:solidFill>
                  <a:schemeClr val="tx2"/>
                </a:solidFill>
              </a:rPr>
              <a:t>           0       0.98      0.98      0.98      5109</a:t>
            </a:r>
          </a:p>
          <a:p>
            <a:r>
              <a:rPr lang="en-US" sz="1800" b="1" dirty="0">
                <a:solidFill>
                  <a:schemeClr val="tx2"/>
                </a:solidFill>
              </a:rPr>
              <a:t>           1       0.93      0.98      0.95      5109</a:t>
            </a:r>
          </a:p>
          <a:p>
            <a:r>
              <a:rPr lang="en-US" sz="1800" b="1" dirty="0">
                <a:solidFill>
                  <a:schemeClr val="tx2"/>
                </a:solidFill>
              </a:rPr>
              <a:t>           2       0.98      0.92      0.95      5109</a:t>
            </a:r>
          </a:p>
          <a:p>
            <a:endParaRPr lang="en-US" sz="1800" b="1" dirty="0">
              <a:solidFill>
                <a:schemeClr val="tx2"/>
              </a:solidFill>
            </a:endParaRPr>
          </a:p>
          <a:p>
            <a:r>
              <a:rPr lang="en-US" sz="1800" b="1" dirty="0">
                <a:solidFill>
                  <a:schemeClr val="tx2"/>
                </a:solidFill>
              </a:rPr>
              <a:t>    accuracy                           0.96     15327</a:t>
            </a:r>
          </a:p>
          <a:p>
            <a:r>
              <a:rPr lang="en-US" sz="1800" b="1" dirty="0">
                <a:solidFill>
                  <a:schemeClr val="tx2"/>
                </a:solidFill>
              </a:rPr>
              <a:t>   macro avg       0.96      0.96      0.96     15327</a:t>
            </a:r>
          </a:p>
          <a:p>
            <a:r>
              <a:rPr lang="en-US" sz="1800" b="1" dirty="0">
                <a:solidFill>
                  <a:schemeClr val="tx2"/>
                </a:solidFill>
              </a:rPr>
              <a:t>weighted avg       0.96      0.96      0.96     15327</a:t>
            </a:r>
            <a:endParaRPr lang="ar-SA" sz="1800" b="1" dirty="0">
              <a:solidFill>
                <a:schemeClr val="tx2"/>
              </a:solidFill>
            </a:endParaRPr>
          </a:p>
        </p:txBody>
      </p:sp>
      <p:grpSp>
        <p:nvGrpSpPr>
          <p:cNvPr id="14" name="Group 13">
            <a:extLst>
              <a:ext uri="{FF2B5EF4-FFF2-40B4-BE49-F238E27FC236}">
                <a16:creationId xmlns:a16="http://schemas.microsoft.com/office/drawing/2014/main" id="{542C7F38-7044-E636-42F5-67C0583E86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9BB1C666-CBA7-8CEA-0CAE-4E89853E7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59EB107-1FD6-4D92-3FA0-173D55B0D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0579020-FB15-6577-3B2B-A23CC68FEE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197170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499D77B-AF1C-E53E-5961-1922D81B0AAD}"/>
            </a:ext>
          </a:extLst>
        </p:cNvPr>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E6206C58-E9CD-F492-1EA9-152E2E6AB7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9" name="Rectangle 10248">
            <a:extLst>
              <a:ext uri="{FF2B5EF4-FFF2-40B4-BE49-F238E27FC236}">
                <a16:creationId xmlns:a16="http://schemas.microsoft.com/office/drawing/2014/main" id="{2D099AAF-C274-E703-CEFB-03F502FB23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51" name="Group 10250">
            <a:extLst>
              <a:ext uri="{FF2B5EF4-FFF2-40B4-BE49-F238E27FC236}">
                <a16:creationId xmlns:a16="http://schemas.microsoft.com/office/drawing/2014/main" id="{39A67AD0-491A-7497-ACE8-9473E28A05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0252" name="Freeform: Shape 10251">
              <a:extLst>
                <a:ext uri="{FF2B5EF4-FFF2-40B4-BE49-F238E27FC236}">
                  <a16:creationId xmlns:a16="http://schemas.microsoft.com/office/drawing/2014/main" id="{5D9BB6DF-4B02-09DA-0BE3-6F51267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3" name="Freeform: Shape 10252">
              <a:extLst>
                <a:ext uri="{FF2B5EF4-FFF2-40B4-BE49-F238E27FC236}">
                  <a16:creationId xmlns:a16="http://schemas.microsoft.com/office/drawing/2014/main" id="{22FF9832-EA79-38A0-DF74-F85BDB74F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4" name="Freeform: Shape 10253">
              <a:extLst>
                <a:ext uri="{FF2B5EF4-FFF2-40B4-BE49-F238E27FC236}">
                  <a16:creationId xmlns:a16="http://schemas.microsoft.com/office/drawing/2014/main" id="{C7C7283A-81F5-9B17-22AD-B87FF19EE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5" name="Freeform: Shape 10254">
              <a:extLst>
                <a:ext uri="{FF2B5EF4-FFF2-40B4-BE49-F238E27FC236}">
                  <a16:creationId xmlns:a16="http://schemas.microsoft.com/office/drawing/2014/main" id="{78E702A8-55C1-A51C-7A49-674EC5087E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عنوان 1">
            <a:extLst>
              <a:ext uri="{FF2B5EF4-FFF2-40B4-BE49-F238E27FC236}">
                <a16:creationId xmlns:a16="http://schemas.microsoft.com/office/drawing/2014/main" id="{5ACE5A68-DA9D-F68B-8CFC-7B16B98F294C}"/>
              </a:ext>
            </a:extLst>
          </p:cNvPr>
          <p:cNvSpPr txBox="1">
            <a:spLocks/>
          </p:cNvSpPr>
          <p:nvPr/>
        </p:nvSpPr>
        <p:spPr>
          <a:xfrm>
            <a:off x="7059034" y="2948645"/>
            <a:ext cx="4805996" cy="129711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Courier New" panose="02070309020205020404" pitchFamily="49" charset="0"/>
                <a:ea typeface="+mj-ea"/>
                <a:cs typeface="Courier New" panose="02070309020205020404" pitchFamily="49" charset="0"/>
              </a:defRPr>
            </a:lvl1pPr>
          </a:lstStyle>
          <a:p>
            <a:pPr algn="ctr"/>
            <a:r>
              <a:rPr lang="en-US" altLang="ar-SA" sz="4000" b="1" dirty="0">
                <a:solidFill>
                  <a:schemeClr val="tx2"/>
                </a:solidFill>
                <a:latin typeface="+mj-lt"/>
                <a:cs typeface="+mj-cs"/>
              </a:rPr>
              <a:t>Confusion Matrix </a:t>
            </a:r>
            <a:r>
              <a:rPr lang="en-US" sz="4000" b="1" dirty="0" err="1">
                <a:solidFill>
                  <a:schemeClr val="tx2"/>
                </a:solidFill>
                <a:latin typeface="+mj-lt"/>
                <a:cs typeface="+mj-cs"/>
              </a:rPr>
              <a:t>DeBERTa</a:t>
            </a:r>
            <a:endParaRPr lang="en-US" sz="4000" b="1" dirty="0">
              <a:solidFill>
                <a:schemeClr val="tx2"/>
              </a:solidFill>
              <a:latin typeface="+mj-lt"/>
              <a:cs typeface="+mj-cs"/>
            </a:endParaRPr>
          </a:p>
        </p:txBody>
      </p:sp>
      <p:pic>
        <p:nvPicPr>
          <p:cNvPr id="2050" name="Picture 2">
            <a:extLst>
              <a:ext uri="{FF2B5EF4-FFF2-40B4-BE49-F238E27FC236}">
                <a16:creationId xmlns:a16="http://schemas.microsoft.com/office/drawing/2014/main" id="{DB7260C2-C771-B4D8-38BD-5A7D1100ED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569" y="589936"/>
            <a:ext cx="6810775" cy="5654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901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95006A-2421-B99B-E75B-E6CEF13DF1F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CB3C97E-5D0A-2F65-CF72-A8BAD629B5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4246C16-17BB-FBAD-5F15-67F4E75B36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31D545F-8FB0-EE16-755F-FB12386A4C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4" name="Freeform: Shape 13">
              <a:extLst>
                <a:ext uri="{FF2B5EF4-FFF2-40B4-BE49-F238E27FC236}">
                  <a16:creationId xmlns:a16="http://schemas.microsoft.com/office/drawing/2014/main" id="{987A899C-F472-644D-EC85-A0B08185DB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72EAFCF-E280-5523-8098-3B9E9F9E6E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076C6F07-0A0A-7058-4763-216B082D0D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044F216E-6DA2-3458-E16A-03447E662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C8356267-D50B-87F5-F128-6CDA506D5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9" name="Freeform: Shape 18">
              <a:extLst>
                <a:ext uri="{FF2B5EF4-FFF2-40B4-BE49-F238E27FC236}">
                  <a16:creationId xmlns:a16="http://schemas.microsoft.com/office/drawing/2014/main" id="{A0AC1DE9-D25A-2CD2-85F7-3A3B9302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79B4510-028E-109C-042B-5C2AC29401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 name="عنوان 3">
            <a:extLst>
              <a:ext uri="{FF2B5EF4-FFF2-40B4-BE49-F238E27FC236}">
                <a16:creationId xmlns:a16="http://schemas.microsoft.com/office/drawing/2014/main" id="{757EB210-0828-A1C6-3389-B1A6540D5B47}"/>
              </a:ext>
            </a:extLst>
          </p:cNvPr>
          <p:cNvSpPr>
            <a:spLocks noGrp="1"/>
          </p:cNvSpPr>
          <p:nvPr>
            <p:ph type="ctrTitle"/>
          </p:nvPr>
        </p:nvSpPr>
        <p:spPr>
          <a:xfrm>
            <a:off x="3215729" y="1764407"/>
            <a:ext cx="5760846" cy="2310312"/>
          </a:xfrm>
        </p:spPr>
        <p:txBody>
          <a:bodyPr>
            <a:normAutofit/>
          </a:bodyPr>
          <a:lstStyle/>
          <a:p>
            <a:r>
              <a:rPr lang="en-US" sz="5200" dirty="0">
                <a:solidFill>
                  <a:schemeClr val="tx2"/>
                </a:solidFill>
              </a:rPr>
              <a:t>Clustering</a:t>
            </a:r>
            <a:endParaRPr lang="ar-SA" sz="5200" dirty="0">
              <a:solidFill>
                <a:schemeClr val="tx2"/>
              </a:solidFill>
            </a:endParaRPr>
          </a:p>
        </p:txBody>
      </p:sp>
    </p:spTree>
    <p:extLst>
      <p:ext uri="{BB962C8B-B14F-4D97-AF65-F5344CB8AC3E}">
        <p14:creationId xmlns:p14="http://schemas.microsoft.com/office/powerpoint/2010/main" val="2420957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E6D2D34-4BB4-460B-8844-027610FB2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صورة 6" descr="صورة تحتوي على نص, لقطة شاشة, برمجيات, أيقونة الحاسوب&#10;&#10;قد يكون المحتوى المعد بواسطة الذكاء الاصطناعي غير صحيح.">
            <a:extLst>
              <a:ext uri="{FF2B5EF4-FFF2-40B4-BE49-F238E27FC236}">
                <a16:creationId xmlns:a16="http://schemas.microsoft.com/office/drawing/2014/main" id="{51A0D386-310C-4FC9-DF06-9333B39B2603}"/>
              </a:ext>
            </a:extLst>
          </p:cNvPr>
          <p:cNvPicPr>
            <a:picLocks noChangeAspect="1"/>
          </p:cNvPicPr>
          <p:nvPr/>
        </p:nvPicPr>
        <p:blipFill>
          <a:blip r:embed="rId3"/>
          <a:srcRect l="3196" t="46337" r="48176" b="27202"/>
          <a:stretch/>
        </p:blipFill>
        <p:spPr>
          <a:xfrm>
            <a:off x="3890944" y="2757949"/>
            <a:ext cx="6894656" cy="3878243"/>
          </a:xfrm>
          <a:prstGeom prst="rect">
            <a:avLst/>
          </a:prstGeom>
        </p:spPr>
      </p:pic>
      <p:grpSp>
        <p:nvGrpSpPr>
          <p:cNvPr id="24" name="Group 23">
            <a:extLst>
              <a:ext uri="{FF2B5EF4-FFF2-40B4-BE49-F238E27FC236}">
                <a16:creationId xmlns:a16="http://schemas.microsoft.com/office/drawing/2014/main" id="{C5314570-9B06-4D37-8CBD-EDD67C2FA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4155"/>
            <a:ext cx="2514948" cy="2174333"/>
            <a:chOff x="-305" y="-4155"/>
            <a:chExt cx="2514948" cy="2174333"/>
          </a:xfrm>
        </p:grpSpPr>
        <p:sp>
          <p:nvSpPr>
            <p:cNvPr id="25" name="Freeform: Shape 24">
              <a:extLst>
                <a:ext uri="{FF2B5EF4-FFF2-40B4-BE49-F238E27FC236}">
                  <a16:creationId xmlns:a16="http://schemas.microsoft.com/office/drawing/2014/main" id="{A204F55B-358D-4FB5-9979-6724C64154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C4F77C62-9DDF-48D3-A074-159A3276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DEB07022-F30B-49CA-B1DD-A826815C4A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8" name="Freeform: Shape 27">
              <a:extLst>
                <a:ext uri="{FF2B5EF4-FFF2-40B4-BE49-F238E27FC236}">
                  <a16:creationId xmlns:a16="http://schemas.microsoft.com/office/drawing/2014/main" id="{F7C47E16-167C-48BF-9FC9-08787D348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صورة 4" descr="صورة تحتوي على نص, لقطة شاشة, برمجيات, أيقونة الحاسوب&#10;&#10;قد يكون المحتوى المعد بواسطة الذكاء الاصطناعي غير صحيح.">
            <a:extLst>
              <a:ext uri="{FF2B5EF4-FFF2-40B4-BE49-F238E27FC236}">
                <a16:creationId xmlns:a16="http://schemas.microsoft.com/office/drawing/2014/main" id="{B27028F7-E829-33D0-3296-29013B0632FB}"/>
              </a:ext>
            </a:extLst>
          </p:cNvPr>
          <p:cNvPicPr>
            <a:picLocks noChangeAspect="1"/>
          </p:cNvPicPr>
          <p:nvPr/>
        </p:nvPicPr>
        <p:blipFill>
          <a:blip r:embed="rId4"/>
          <a:srcRect l="4179" t="34090" r="31763" b="28296"/>
          <a:stretch/>
        </p:blipFill>
        <p:spPr>
          <a:xfrm>
            <a:off x="244234" y="85297"/>
            <a:ext cx="8270389" cy="2731645"/>
          </a:xfrm>
          <a:prstGeom prst="rect">
            <a:avLst/>
          </a:prstGeom>
        </p:spPr>
      </p:pic>
    </p:spTree>
    <p:extLst>
      <p:ext uri="{BB962C8B-B14F-4D97-AF65-F5344CB8AC3E}">
        <p14:creationId xmlns:p14="http://schemas.microsoft.com/office/powerpoint/2010/main" val="1007538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03AEB3-B585-8BBC-DCE1-EA035C12664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370AE4E-D69A-0E32-A843-7F9F37F56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3DB63D4-6D03-55C9-7839-2C011540F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3A84590C-F0F8-F761-C17F-5518143EBB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4" name="Freeform: Shape 13">
              <a:extLst>
                <a:ext uri="{FF2B5EF4-FFF2-40B4-BE49-F238E27FC236}">
                  <a16:creationId xmlns:a16="http://schemas.microsoft.com/office/drawing/2014/main" id="{6001BD65-F533-9D1D-3723-A946AF9C0E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B2CB4DFB-E8C1-8D4B-6017-67E35E75F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247FF2DB-B663-0252-0092-62BD88DFD9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020E4A5A-8141-0B8C-2F92-B563D05CD9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346F60B9-C4A2-728C-464D-81A39A3DDF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9" name="Freeform: Shape 18">
              <a:extLst>
                <a:ext uri="{FF2B5EF4-FFF2-40B4-BE49-F238E27FC236}">
                  <a16:creationId xmlns:a16="http://schemas.microsoft.com/office/drawing/2014/main" id="{762187FA-2744-A51C-CD16-FE1E2433EB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9EC23091-0F25-793F-59F8-66C95AF6E8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 name="عنوان 3">
            <a:extLst>
              <a:ext uri="{FF2B5EF4-FFF2-40B4-BE49-F238E27FC236}">
                <a16:creationId xmlns:a16="http://schemas.microsoft.com/office/drawing/2014/main" id="{2F3AD30C-1CE7-5FF2-6ADD-2D25E143EB26}"/>
              </a:ext>
            </a:extLst>
          </p:cNvPr>
          <p:cNvSpPr>
            <a:spLocks noGrp="1"/>
          </p:cNvSpPr>
          <p:nvPr>
            <p:ph type="ctrTitle"/>
          </p:nvPr>
        </p:nvSpPr>
        <p:spPr>
          <a:xfrm>
            <a:off x="3215729" y="1764407"/>
            <a:ext cx="5760846" cy="2310312"/>
          </a:xfrm>
        </p:spPr>
        <p:txBody>
          <a:bodyPr>
            <a:normAutofit/>
          </a:bodyPr>
          <a:lstStyle/>
          <a:p>
            <a:r>
              <a:rPr lang="en-US" sz="5200" dirty="0">
                <a:solidFill>
                  <a:schemeClr val="tx2"/>
                </a:solidFill>
              </a:rPr>
              <a:t>Summarization</a:t>
            </a:r>
            <a:endParaRPr lang="ar-SA" sz="5200" dirty="0">
              <a:solidFill>
                <a:schemeClr val="tx2"/>
              </a:solidFill>
            </a:endParaRPr>
          </a:p>
        </p:txBody>
      </p:sp>
    </p:spTree>
    <p:extLst>
      <p:ext uri="{BB962C8B-B14F-4D97-AF65-F5344CB8AC3E}">
        <p14:creationId xmlns:p14="http://schemas.microsoft.com/office/powerpoint/2010/main" val="861183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39F07C83-EFAC-97DF-03A1-A36AB85F4811}"/>
              </a:ext>
            </a:extLst>
          </p:cNvPr>
          <p:cNvPicPr>
            <a:picLocks noChangeAspect="1"/>
          </p:cNvPicPr>
          <p:nvPr/>
        </p:nvPicPr>
        <p:blipFill>
          <a:blip r:embed="rId2"/>
          <a:srcRect l="6875" t="26609" r="27460" b="8176"/>
          <a:stretch/>
        </p:blipFill>
        <p:spPr>
          <a:xfrm>
            <a:off x="407233" y="252608"/>
            <a:ext cx="11377534" cy="6352783"/>
          </a:xfrm>
          <a:prstGeom prst="rect">
            <a:avLst/>
          </a:prstGeom>
        </p:spPr>
      </p:pic>
    </p:spTree>
    <p:extLst>
      <p:ext uri="{BB962C8B-B14F-4D97-AF65-F5344CB8AC3E}">
        <p14:creationId xmlns:p14="http://schemas.microsoft.com/office/powerpoint/2010/main" val="1178295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9149365-58FF-7E3C-95AC-EB96F7FDCE54}"/>
              </a:ext>
            </a:extLst>
          </p:cNvPr>
          <p:cNvSpPr>
            <a:spLocks noGrp="1"/>
          </p:cNvSpPr>
          <p:nvPr>
            <p:ph type="title"/>
          </p:nvPr>
        </p:nvSpPr>
        <p:spPr>
          <a:xfrm>
            <a:off x="838200" y="129151"/>
            <a:ext cx="10515600" cy="1325563"/>
          </a:xfrm>
        </p:spPr>
        <p:txBody>
          <a:bodyPr>
            <a:normAutofit/>
          </a:bodyPr>
          <a:lstStyle/>
          <a:p>
            <a:r>
              <a:rPr lang="en-US" dirty="0"/>
              <a:t>📦 Category: Fire &amp; Amazon Tablets</a:t>
            </a:r>
            <a:endParaRPr lang="ar-SA" dirty="0"/>
          </a:p>
        </p:txBody>
      </p:sp>
      <p:sp>
        <p:nvSpPr>
          <p:cNvPr id="3" name="عنصر نائب للمحتوى 2">
            <a:extLst>
              <a:ext uri="{FF2B5EF4-FFF2-40B4-BE49-F238E27FC236}">
                <a16:creationId xmlns:a16="http://schemas.microsoft.com/office/drawing/2014/main" id="{431D0DF7-B10C-150B-39F3-70EECEC34750}"/>
              </a:ext>
            </a:extLst>
          </p:cNvPr>
          <p:cNvSpPr>
            <a:spLocks noGrp="1"/>
          </p:cNvSpPr>
          <p:nvPr>
            <p:ph idx="1"/>
          </p:nvPr>
        </p:nvSpPr>
        <p:spPr>
          <a:xfrm>
            <a:off x="838200" y="1454713"/>
            <a:ext cx="10515600" cy="5580267"/>
          </a:xfrm>
        </p:spPr>
        <p:txBody>
          <a:bodyPr>
            <a:noAutofit/>
          </a:bodyPr>
          <a:lstStyle/>
          <a:p>
            <a:r>
              <a:rPr lang="en-US" sz="1800" b="1" dirty="0"/>
              <a:t>⭐ Top 3 Products:</a:t>
            </a:r>
          </a:p>
          <a:p>
            <a:pPr marL="0" indent="0">
              <a:buNone/>
            </a:pPr>
            <a:r>
              <a:rPr lang="en-US" sz="1800" dirty="0"/>
              <a:t>          name                                              </a:t>
            </a:r>
            <a:r>
              <a:rPr lang="en-US" sz="1800" dirty="0" err="1"/>
              <a:t>reviews.rating</a:t>
            </a:r>
            <a:endParaRPr lang="en-US" sz="1800" dirty="0"/>
          </a:p>
          <a:p>
            <a:r>
              <a:rPr lang="en-US" sz="1800" dirty="0"/>
              <a:t>28330  Fire HD 8 Tablet with Alexa, 8 HD Display, 16 ...               5</a:t>
            </a:r>
          </a:p>
          <a:p>
            <a:r>
              <a:rPr lang="en-US" sz="1800" dirty="0"/>
              <a:t>12086    </a:t>
            </a:r>
            <a:r>
              <a:rPr lang="en-US" sz="1800" dirty="0" err="1"/>
              <a:t>AmazonBasics</a:t>
            </a:r>
            <a:r>
              <a:rPr lang="en-US" sz="1800" dirty="0"/>
              <a:t> Ventilated Adjustable Laptop Stand               5</a:t>
            </a:r>
          </a:p>
          <a:p>
            <a:r>
              <a:rPr lang="en-US" sz="1800" dirty="0"/>
              <a:t>28329  Fire HD 8 Tablet with Alexa, 8 HD Display, 16 ...               5</a:t>
            </a:r>
          </a:p>
          <a:p>
            <a:r>
              <a:rPr lang="en-US" sz="1800" b="1" dirty="0"/>
              <a:t>💔 Worst Product</a:t>
            </a:r>
          </a:p>
          <a:p>
            <a:pPr marL="0" indent="0">
              <a:buNone/>
            </a:pPr>
            <a:r>
              <a:rPr lang="en-US" sz="1800" dirty="0"/>
              <a:t>          name                                              </a:t>
            </a:r>
            <a:r>
              <a:rPr lang="en-US" sz="1800" dirty="0" err="1"/>
              <a:t>reviews.rating</a:t>
            </a:r>
            <a:endParaRPr lang="en-US" sz="1800" dirty="0"/>
          </a:p>
          <a:p>
            <a:r>
              <a:rPr lang="en-US" sz="1800" dirty="0"/>
              <a:t>16798  Fire Kids Edition Tablet, 7 Display, Wi-Fi, 16...               1</a:t>
            </a:r>
          </a:p>
          <a:p>
            <a:endParaRPr lang="en-US" sz="1800" dirty="0"/>
          </a:p>
          <a:p>
            <a:r>
              <a:rPr lang="en-US" sz="1800" b="1" dirty="0"/>
              <a:t>📝 Complaints Summary:</a:t>
            </a:r>
          </a:p>
          <a:p>
            <a:r>
              <a:rPr lang="en-US" sz="1800" dirty="0"/>
              <a:t>The two guard stops at the bottom are WAY TOO high. They dig into my wrists are </a:t>
            </a:r>
            <a:r>
              <a:rPr lang="en-US" sz="1800" dirty="0" err="1"/>
              <a:t>are</a:t>
            </a:r>
            <a:r>
              <a:rPr lang="en-US" sz="1800" dirty="0"/>
              <a:t> painful after only 5 minutes. If ads </a:t>
            </a:r>
            <a:r>
              <a:rPr lang="en-US" sz="1800" dirty="0" err="1"/>
              <a:t>dont</a:t>
            </a:r>
            <a:r>
              <a:rPr lang="en-US" sz="1800" dirty="0"/>
              <a:t> bother you, then this may be a decent device. Tablet had trouble from the begging it kept restarting and rebooting I had to return it. The screen breaks way to easy it drop one time broke Does not let me connect with my library.</a:t>
            </a:r>
          </a:p>
          <a:p>
            <a:r>
              <a:rPr lang="en-US" sz="1800" dirty="0"/>
              <a:t>--------------------------------------------------</a:t>
            </a:r>
            <a:endParaRPr lang="ar-SA" sz="1800" dirty="0"/>
          </a:p>
        </p:txBody>
      </p:sp>
    </p:spTree>
    <p:extLst>
      <p:ext uri="{BB962C8B-B14F-4D97-AF65-F5344CB8AC3E}">
        <p14:creationId xmlns:p14="http://schemas.microsoft.com/office/powerpoint/2010/main" val="1788740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23EA88-D1A9-B1CB-9C97-8948EC72A8D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7112D65-EFE0-706A-4638-1074DB690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B6EE8B-EB64-F847-30EE-0860A1891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86A99B-5BA9-2283-0585-0E7CCA815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4" name="Freeform: Shape 13">
              <a:extLst>
                <a:ext uri="{FF2B5EF4-FFF2-40B4-BE49-F238E27FC236}">
                  <a16:creationId xmlns:a16="http://schemas.microsoft.com/office/drawing/2014/main" id="{B3477905-A0FA-6B1D-7335-46F75B6573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0DAF19E5-CFAD-9436-7E9E-1DEE33F82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CDA825D4-F1D6-241F-D8E4-33C711AB2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F111B332-C109-4B1D-3E1C-A416A1D40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747E1C5C-1B52-7FF5-0E83-DFB8C4244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9" name="Freeform: Shape 18">
              <a:extLst>
                <a:ext uri="{FF2B5EF4-FFF2-40B4-BE49-F238E27FC236}">
                  <a16:creationId xmlns:a16="http://schemas.microsoft.com/office/drawing/2014/main" id="{15BEE0F5-C364-8973-A74A-137F0C63F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C732A918-B536-24AC-745A-B297EC5D7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 name="عنوان 3">
            <a:extLst>
              <a:ext uri="{FF2B5EF4-FFF2-40B4-BE49-F238E27FC236}">
                <a16:creationId xmlns:a16="http://schemas.microsoft.com/office/drawing/2014/main" id="{97BAE9F4-3E97-9904-7834-31CC82316D64}"/>
              </a:ext>
            </a:extLst>
          </p:cNvPr>
          <p:cNvSpPr>
            <a:spLocks noGrp="1"/>
          </p:cNvSpPr>
          <p:nvPr>
            <p:ph type="ctrTitle"/>
          </p:nvPr>
        </p:nvSpPr>
        <p:spPr>
          <a:xfrm>
            <a:off x="3215729" y="1764407"/>
            <a:ext cx="5760846" cy="2310312"/>
          </a:xfrm>
        </p:spPr>
        <p:txBody>
          <a:bodyPr>
            <a:normAutofit/>
          </a:bodyPr>
          <a:lstStyle/>
          <a:p>
            <a:r>
              <a:rPr lang="en-US" sz="5200" dirty="0">
                <a:solidFill>
                  <a:schemeClr val="tx2"/>
                </a:solidFill>
              </a:rPr>
              <a:t>Deployment</a:t>
            </a:r>
            <a:endParaRPr lang="ar-SA" sz="5200" dirty="0">
              <a:solidFill>
                <a:schemeClr val="tx2"/>
              </a:solidFill>
            </a:endParaRPr>
          </a:p>
        </p:txBody>
      </p:sp>
    </p:spTree>
    <p:extLst>
      <p:ext uri="{BB962C8B-B14F-4D97-AF65-F5344CB8AC3E}">
        <p14:creationId xmlns:p14="http://schemas.microsoft.com/office/powerpoint/2010/main" val="2703538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472FF0-CF95-9CF2-9E62-50D193A27F6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F43AD6-CB93-9CAF-2B43-AA6C732DBB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50CA7DB-E492-BB0E-2C94-05C327A38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ADAA1872-5D71-04B2-D482-1152D8F096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B730E687-2C5B-8598-AA5D-47D5D8151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DBD68AE-1828-AEBC-0304-B9E9BB154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BC0F63E-64F5-D4A4-9982-11952FFD34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4BEE1896-D27D-CA00-6497-32CE57097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698E262A-BF32-0BDB-6110-A339D35DDF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36355E44-EA16-2C0F-6231-DCFF3EC8D3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2C291879-D454-DA56-63A2-BF1DAEF95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717A443-1378-5F53-7750-A95BB462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2352E56-A0D1-EE75-2449-48C6AB918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صورة 5">
            <a:extLst>
              <a:ext uri="{FF2B5EF4-FFF2-40B4-BE49-F238E27FC236}">
                <a16:creationId xmlns:a16="http://schemas.microsoft.com/office/drawing/2014/main" id="{0BA08C63-ECA3-2ADE-F470-A942A37D3B0F}"/>
              </a:ext>
            </a:extLst>
          </p:cNvPr>
          <p:cNvPicPr>
            <a:picLocks noChangeAspect="1"/>
          </p:cNvPicPr>
          <p:nvPr/>
        </p:nvPicPr>
        <p:blipFill>
          <a:blip r:embed="rId3"/>
          <a:srcRect l="20202" t="22352" r="22701" b="9911"/>
          <a:stretch/>
        </p:blipFill>
        <p:spPr>
          <a:xfrm>
            <a:off x="381658" y="713091"/>
            <a:ext cx="7808573" cy="5208302"/>
          </a:xfrm>
          <a:prstGeom prst="rect">
            <a:avLst/>
          </a:prstGeom>
        </p:spPr>
      </p:pic>
      <p:sp>
        <p:nvSpPr>
          <p:cNvPr id="11" name="مربع نص 10">
            <a:extLst>
              <a:ext uri="{FF2B5EF4-FFF2-40B4-BE49-F238E27FC236}">
                <a16:creationId xmlns:a16="http://schemas.microsoft.com/office/drawing/2014/main" id="{F10CD088-AB60-D722-835E-9CE7A6EF83E2}"/>
              </a:ext>
            </a:extLst>
          </p:cNvPr>
          <p:cNvSpPr txBox="1"/>
          <p:nvPr/>
        </p:nvSpPr>
        <p:spPr>
          <a:xfrm>
            <a:off x="4716300" y="2336092"/>
            <a:ext cx="7094041" cy="2362185"/>
          </a:xfrm>
          <a:prstGeom prst="rect">
            <a:avLst/>
          </a:prstGeom>
          <a:noFill/>
        </p:spPr>
        <p:txBody>
          <a:bodyPr wrap="square">
            <a:spAutoFit/>
          </a:bodyPr>
          <a:lstStyle/>
          <a:p>
            <a:pPr marL="285750" indent="-285750" algn="l" rtl="0">
              <a:lnSpc>
                <a:spcPct val="150000"/>
              </a:lnSpc>
              <a:buFont typeface="Arial" panose="020B0604020202020204" pitchFamily="34" charset="0"/>
              <a:buChar char="•"/>
            </a:pPr>
            <a:r>
              <a:rPr lang="en-US" sz="2000" b="1" dirty="0">
                <a:solidFill>
                  <a:schemeClr val="accent1">
                    <a:lumMod val="50000"/>
                  </a:schemeClr>
                </a:solidFill>
                <a:latin typeface="Courier New" panose="02070309020205020404" pitchFamily="49" charset="0"/>
                <a:cs typeface="Courier New" panose="02070309020205020404" pitchFamily="49" charset="0"/>
              </a:rPr>
              <a:t>Positive</a:t>
            </a:r>
            <a:r>
              <a:rPr lang="en-US" sz="2000" dirty="0">
                <a:solidFill>
                  <a:schemeClr val="accent1">
                    <a:lumMod val="50000"/>
                  </a:schemeClr>
                </a:solidFill>
                <a:latin typeface="Courier New" panose="02070309020205020404" pitchFamily="49" charset="0"/>
                <a:cs typeface="Courier New" panose="02070309020205020404" pitchFamily="49" charset="0"/>
              </a:rPr>
              <a:t>: "Absolutely love this product! Exceeded my expectations.“</a:t>
            </a:r>
          </a:p>
          <a:p>
            <a:pPr marL="285750" indent="-285750" algn="l" rtl="0">
              <a:lnSpc>
                <a:spcPct val="150000"/>
              </a:lnSpc>
              <a:buFont typeface="Arial" panose="020B0604020202020204" pitchFamily="34" charset="0"/>
              <a:buChar char="•"/>
            </a:pPr>
            <a:r>
              <a:rPr lang="en-US" sz="2000" b="1" dirty="0">
                <a:solidFill>
                  <a:schemeClr val="accent1">
                    <a:lumMod val="50000"/>
                  </a:schemeClr>
                </a:solidFill>
                <a:latin typeface="Courier New" panose="02070309020205020404" pitchFamily="49" charset="0"/>
                <a:cs typeface="Courier New" panose="02070309020205020404" pitchFamily="49" charset="0"/>
              </a:rPr>
              <a:t>Negative</a:t>
            </a:r>
            <a:r>
              <a:rPr lang="en-US" sz="2000" dirty="0">
                <a:solidFill>
                  <a:schemeClr val="accent1">
                    <a:lumMod val="50000"/>
                  </a:schemeClr>
                </a:solidFill>
                <a:latin typeface="Courier New" panose="02070309020205020404" pitchFamily="49" charset="0"/>
                <a:cs typeface="Courier New" panose="02070309020205020404" pitchFamily="49" charset="0"/>
              </a:rPr>
              <a:t>: "Terrible quality, completely disappointed.“</a:t>
            </a:r>
          </a:p>
          <a:p>
            <a:pPr marL="285750" indent="-285750" algn="l" rtl="0">
              <a:lnSpc>
                <a:spcPct val="150000"/>
              </a:lnSpc>
              <a:buFont typeface="Arial" panose="020B0604020202020204" pitchFamily="34" charset="0"/>
              <a:buChar char="•"/>
            </a:pPr>
            <a:r>
              <a:rPr lang="en-US" sz="2000" b="1" dirty="0">
                <a:solidFill>
                  <a:schemeClr val="accent1">
                    <a:lumMod val="50000"/>
                  </a:schemeClr>
                </a:solidFill>
                <a:latin typeface="Courier New" panose="02070309020205020404" pitchFamily="49" charset="0"/>
                <a:cs typeface="Courier New" panose="02070309020205020404" pitchFamily="49" charset="0"/>
              </a:rPr>
              <a:t>Neutral</a:t>
            </a:r>
            <a:r>
              <a:rPr lang="en-US" sz="2000" dirty="0">
                <a:solidFill>
                  <a:schemeClr val="accent1">
                    <a:lumMod val="50000"/>
                  </a:schemeClr>
                </a:solidFill>
                <a:latin typeface="Courier New" panose="02070309020205020404" pitchFamily="49" charset="0"/>
                <a:cs typeface="Courier New" panose="02070309020205020404" pitchFamily="49" charset="0"/>
              </a:rPr>
              <a:t>: " It’s okay, nothing special.”</a:t>
            </a:r>
            <a:endParaRPr lang="ar-SA" sz="2000" dirty="0">
              <a:solidFill>
                <a:schemeClr val="accent1">
                  <a:lumMod val="50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11669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790893-1B1C-B5A5-80ED-EA6F7065A43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EAC794-44FA-DB42-30DB-F4381AB3D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AA86F9B-7672-E426-A82B-F9EFA2F2F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72B5686E-C6BA-719D-867F-76AA87B18B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4" name="Freeform: Shape 13">
              <a:extLst>
                <a:ext uri="{FF2B5EF4-FFF2-40B4-BE49-F238E27FC236}">
                  <a16:creationId xmlns:a16="http://schemas.microsoft.com/office/drawing/2014/main" id="{9AF4FFFA-C6AA-EE52-C549-660C4536D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5F374B85-F29F-0FCC-A165-187435BACF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0A6BE0AF-AAD6-B98F-F43A-3D2CF4903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765D50AA-9876-2A41-D6AF-27870CB49B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941B443A-4F8E-AC49-0F1C-0AA05BB1A1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9" name="Freeform: Shape 18">
              <a:extLst>
                <a:ext uri="{FF2B5EF4-FFF2-40B4-BE49-F238E27FC236}">
                  <a16:creationId xmlns:a16="http://schemas.microsoft.com/office/drawing/2014/main" id="{58D53E62-B4E9-6D98-A4E8-2793EC4DCA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49C7C868-6D6E-7FE6-2C01-0FD5C2022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 name="عنوان 3">
            <a:extLst>
              <a:ext uri="{FF2B5EF4-FFF2-40B4-BE49-F238E27FC236}">
                <a16:creationId xmlns:a16="http://schemas.microsoft.com/office/drawing/2014/main" id="{1E4A9739-C6A5-7463-ABA7-C26128507259}"/>
              </a:ext>
            </a:extLst>
          </p:cNvPr>
          <p:cNvSpPr>
            <a:spLocks noGrp="1"/>
          </p:cNvSpPr>
          <p:nvPr>
            <p:ph type="ctrTitle"/>
          </p:nvPr>
        </p:nvSpPr>
        <p:spPr>
          <a:xfrm>
            <a:off x="3215729" y="1764407"/>
            <a:ext cx="5760846" cy="2310312"/>
          </a:xfrm>
        </p:spPr>
        <p:txBody>
          <a:bodyPr>
            <a:normAutofit/>
          </a:bodyPr>
          <a:lstStyle/>
          <a:p>
            <a:br>
              <a:rPr lang="en-US" sz="5200" b="1" dirty="0">
                <a:solidFill>
                  <a:schemeClr val="tx2"/>
                </a:solidFill>
              </a:rPr>
            </a:br>
            <a:r>
              <a:rPr lang="en-US" sz="5200" b="1" dirty="0">
                <a:solidFill>
                  <a:schemeClr val="tx2"/>
                </a:solidFill>
              </a:rPr>
              <a:t>Thank You! </a:t>
            </a:r>
            <a:br>
              <a:rPr lang="en-US" sz="5200" b="1" dirty="0">
                <a:solidFill>
                  <a:schemeClr val="tx2"/>
                </a:solidFill>
              </a:rPr>
            </a:br>
            <a:endParaRPr lang="ar-SA" sz="5200" b="1" dirty="0">
              <a:solidFill>
                <a:schemeClr val="tx2"/>
              </a:solidFill>
            </a:endParaRPr>
          </a:p>
        </p:txBody>
      </p:sp>
      <p:sp>
        <p:nvSpPr>
          <p:cNvPr id="6" name="مربع نص 5">
            <a:extLst>
              <a:ext uri="{FF2B5EF4-FFF2-40B4-BE49-F238E27FC236}">
                <a16:creationId xmlns:a16="http://schemas.microsoft.com/office/drawing/2014/main" id="{08955E0F-C562-C298-569B-CA9CC642B2F9}"/>
              </a:ext>
            </a:extLst>
          </p:cNvPr>
          <p:cNvSpPr txBox="1"/>
          <p:nvPr/>
        </p:nvSpPr>
        <p:spPr>
          <a:xfrm>
            <a:off x="3044010" y="4152625"/>
            <a:ext cx="6098458" cy="1098762"/>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Automated Review Analysis System</a:t>
            </a:r>
            <a:br>
              <a:rPr kumimoji="0" lang="en-US" sz="2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br>
            <a:r>
              <a:rPr kumimoji="0" lang="en-US" sz="24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Presented by:</a:t>
            </a:r>
            <a:br>
              <a:rPr kumimoji="0" lang="en-US" sz="2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br>
            <a:r>
              <a:rPr kumimoji="0" lang="en-US" sz="24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Nada</a:t>
            </a:r>
            <a:endParaRPr kumimoji="0" lang="ar-SA" sz="2400" b="0" i="0" u="none" strike="noStrike" kern="1200" cap="none" spc="0" normalizeH="0" baseline="0" noProof="0" dirty="0">
              <a:ln>
                <a:noFill/>
              </a:ln>
              <a:solidFill>
                <a:srgbClr val="0E2841"/>
              </a:solidFill>
              <a:effectLst/>
              <a:uLnTx/>
              <a:uFillTx/>
              <a:latin typeface="Courier New" panose="02070309020205020404" pitchFamily="49" charset="0"/>
              <a:ea typeface="+mn-ea"/>
              <a:cs typeface="Courier New" panose="02070309020205020404" pitchFamily="49" charset="0"/>
            </a:endParaRPr>
          </a:p>
        </p:txBody>
      </p:sp>
    </p:spTree>
    <p:extLst>
      <p:ext uri="{BB962C8B-B14F-4D97-AF65-F5344CB8AC3E}">
        <p14:creationId xmlns:p14="http://schemas.microsoft.com/office/powerpoint/2010/main" val="390492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1634</TotalTime>
  <Words>1110</Words>
  <Application>Microsoft Office PowerPoint</Application>
  <PresentationFormat>شاشة عريضة</PresentationFormat>
  <Paragraphs>139</Paragraphs>
  <Slides>25</Slides>
  <Notes>10</Notes>
  <HiddenSlides>6</HiddenSlides>
  <MMClips>1</MMClips>
  <ScaleCrop>false</ScaleCrop>
  <HeadingPairs>
    <vt:vector size="6" baseType="variant">
      <vt:variant>
        <vt:lpstr>الخطوط المستخدمة</vt:lpstr>
      </vt:variant>
      <vt:variant>
        <vt:i4>4</vt:i4>
      </vt:variant>
      <vt:variant>
        <vt:lpstr>نسق</vt:lpstr>
      </vt:variant>
      <vt:variant>
        <vt:i4>1</vt:i4>
      </vt:variant>
      <vt:variant>
        <vt:lpstr>عناوين الشرائح</vt:lpstr>
      </vt:variant>
      <vt:variant>
        <vt:i4>25</vt:i4>
      </vt:variant>
    </vt:vector>
  </HeadingPairs>
  <TitlesOfParts>
    <vt:vector size="30" baseType="lpstr">
      <vt:lpstr>Aptos</vt:lpstr>
      <vt:lpstr>Aptos Display</vt:lpstr>
      <vt:lpstr>Arial</vt:lpstr>
      <vt:lpstr>Courier New</vt:lpstr>
      <vt:lpstr>نسق Office</vt:lpstr>
      <vt:lpstr>Automated Review Analysis System</vt:lpstr>
      <vt:lpstr>Dataset </vt:lpstr>
      <vt:lpstr>عرض تقديمي في PowerPoint</vt:lpstr>
      <vt:lpstr>Data Wrangling &amp; Cleaning</vt:lpstr>
      <vt:lpstr>عرض تقديمي في PowerPoint</vt:lpstr>
      <vt:lpstr>Models</vt:lpstr>
      <vt:lpstr>عرض تقديمي في PowerPoint</vt:lpstr>
      <vt:lpstr>DistilBERT</vt:lpstr>
      <vt:lpstr>Classification Report:</vt:lpstr>
      <vt:lpstr>Confusion Matrix DistilBERT</vt:lpstr>
      <vt:lpstr>عرض تقديمي في PowerPoint</vt:lpstr>
      <vt:lpstr>Bert</vt:lpstr>
      <vt:lpstr>Classification Report:</vt:lpstr>
      <vt:lpstr>عرض تقديمي في PowerPoint</vt:lpstr>
      <vt:lpstr>عرض تقديمي في PowerPoint</vt:lpstr>
      <vt:lpstr>DeBERTa   Classification Report:</vt:lpstr>
      <vt:lpstr>عرض تقديمي في PowerPoint</vt:lpstr>
      <vt:lpstr>Clustering</vt:lpstr>
      <vt:lpstr>عرض تقديمي في PowerPoint</vt:lpstr>
      <vt:lpstr>Summarization</vt:lpstr>
      <vt:lpstr>عرض تقديمي في PowerPoint</vt:lpstr>
      <vt:lpstr>📦 Category: Fire &amp; Amazon Tablets</vt:lpstr>
      <vt:lpstr>Deployment</vt:lpstr>
      <vt:lpstr>عرض تقديمي في PowerPoint</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NADA TARIQ HAMMAD ALNEMARI</dc:creator>
  <cp:lastModifiedBy>NADA TARIQ HAMMAD ALNEMARI</cp:lastModifiedBy>
  <cp:revision>32</cp:revision>
  <dcterms:created xsi:type="dcterms:W3CDTF">2025-04-12T02:47:48Z</dcterms:created>
  <dcterms:modified xsi:type="dcterms:W3CDTF">2025-04-14T10:51:24Z</dcterms:modified>
</cp:coreProperties>
</file>